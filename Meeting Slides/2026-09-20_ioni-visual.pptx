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55649" autoAdjust="0"/>
  </p:normalViewPr>
  <p:slideViewPr>
    <p:cSldViewPr snapToGrid="0">
      <p:cViewPr varScale="1">
        <p:scale>
          <a:sx n="117" d="100"/>
          <a:sy n="117" d="100"/>
        </p:scale>
        <p:origin x="305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A67D2F17-03A8-45C5-BB90-2EE688B41D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B36A811A-CC92-4676-A649-6E8E334A67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F6CDCF44-B71E-42A6-840A-942AEDED2CA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>
            <a:extLst>
              <a:ext uri="{FF2B5EF4-FFF2-40B4-BE49-F238E27FC236}">
                <a16:creationId xmlns:a16="http://schemas.microsoft.com/office/drawing/2014/main" id="{7223A2C2-F59E-4CD7-A11C-E19D3DCCD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>
            <a:extLst>
              <a:ext uri="{FF2B5EF4-FFF2-40B4-BE49-F238E27FC236}">
                <a16:creationId xmlns:a16="http://schemas.microsoft.com/office/drawing/2014/main" id="{5CB2EAEE-FA27-452A-B872-6DF5105DDA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>
            <a:extLst>
              <a:ext uri="{FF2B5EF4-FFF2-40B4-BE49-F238E27FC236}">
                <a16:creationId xmlns:a16="http://schemas.microsoft.com/office/drawing/2014/main" id="{6E525670-8D85-48FA-9162-AC624B7198E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>
            <a:extLst>
              <a:ext uri="{FF2B5EF4-FFF2-40B4-BE49-F238E27FC236}">
                <a16:creationId xmlns:a16="http://schemas.microsoft.com/office/drawing/2014/main" id="{D0C252AB-448C-4F7D-A487-DCD3237D648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>
            <a:extLst>
              <a:ext uri="{FF2B5EF4-FFF2-40B4-BE49-F238E27FC236}">
                <a16:creationId xmlns:a16="http://schemas.microsoft.com/office/drawing/2014/main" id="{4A1A0A3F-5550-4872-A38D-B7CD240D9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>
            <a:extLst>
              <a:ext uri="{FF2B5EF4-FFF2-40B4-BE49-F238E27FC236}">
                <a16:creationId xmlns:a16="http://schemas.microsoft.com/office/drawing/2014/main" id="{6311D205-81A0-4178-ADFC-51A36A2272E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>
            <a:extLst>
              <a:ext uri="{FF2B5EF4-FFF2-40B4-BE49-F238E27FC236}">
                <a16:creationId xmlns:a16="http://schemas.microsoft.com/office/drawing/2014/main" id="{821595F2-1888-4045-B357-3CF9A43A5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>
            <a:extLst>
              <a:ext uri="{FF2B5EF4-FFF2-40B4-BE49-F238E27FC236}">
                <a16:creationId xmlns:a16="http://schemas.microsoft.com/office/drawing/2014/main" id="{3BFCBAF1-228E-482A-B676-997575C815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 marL="4572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>
            <a:extLst>
              <a:ext uri="{FF2B5EF4-FFF2-40B4-BE49-F238E27FC236}">
                <a16:creationId xmlns:a16="http://schemas.microsoft.com/office/drawing/2014/main" id="{6B8743D3-844C-4DF2-BBEB-961ACA62465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>
            <a:extLst>
              <a:ext uri="{FF2B5EF4-FFF2-40B4-BE49-F238E27FC236}">
                <a16:creationId xmlns:a16="http://schemas.microsoft.com/office/drawing/2014/main" id="{B01B4D00-3895-4288-B542-FC595DCDE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>
            <a:extLst>
              <a:ext uri="{FF2B5EF4-FFF2-40B4-BE49-F238E27FC236}">
                <a16:creationId xmlns:a16="http://schemas.microsoft.com/office/drawing/2014/main" id="{A7D98897-2ADB-4828-94D2-AB37982485D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>
            <a:extLst>
              <a:ext uri="{FF2B5EF4-FFF2-40B4-BE49-F238E27FC236}">
                <a16:creationId xmlns:a16="http://schemas.microsoft.com/office/drawing/2014/main" id="{F9FDECD7-0971-4D18-AC91-45E840F8A94C}"/>
              </a:ext>
            </a:extLst>
          </p:cNvPr>
          <p:cNvSpPr>
            <a:spLocks noGrp="1"/>
          </p:cNvSpPr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>
            <a:extLst>
              <a:ext uri="{FF2B5EF4-FFF2-40B4-BE49-F238E27FC236}">
                <a16:creationId xmlns:a16="http://schemas.microsoft.com/office/drawing/2014/main" id="{24477DBD-22B8-4AFA-AB59-E07818381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>
            <a:extLst>
              <a:ext uri="{FF2B5EF4-FFF2-40B4-BE49-F238E27FC236}">
                <a16:creationId xmlns:a16="http://schemas.microsoft.com/office/drawing/2014/main" id="{ED7EEC97-1451-4EF1-9FA6-4700537BE3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>
            <a:extLst>
              <a:ext uri="{FF2B5EF4-FFF2-40B4-BE49-F238E27FC236}">
                <a16:creationId xmlns:a16="http://schemas.microsoft.com/office/drawing/2014/main" id="{A9A70D23-E56C-41FE-A11D-CBBC4A78553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>
            <a:extLst>
              <a:ext uri="{FF2B5EF4-FFF2-40B4-BE49-F238E27FC236}">
                <a16:creationId xmlns:a16="http://schemas.microsoft.com/office/drawing/2014/main" id="{F2884120-6C28-4FF8-8C12-714EDB108BB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>
            <a:extLst>
              <a:ext uri="{FF2B5EF4-FFF2-40B4-BE49-F238E27FC236}">
                <a16:creationId xmlns:a16="http://schemas.microsoft.com/office/drawing/2014/main" id="{7FB82E17-2E76-49EB-8549-5373CED4EA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rmAutofit/>
          </a:bodyPr>
          <a:lstStyle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>
            <a:extLst>
              <a:ext uri="{FF2B5EF4-FFF2-40B4-BE49-F238E27FC236}">
                <a16:creationId xmlns:a16="http://schemas.microsoft.com/office/drawing/2014/main" id="{0A378C25-B7FC-4FBC-B7C0-611DAF23400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>
            <a:extLst>
              <a:ext uri="{FF2B5EF4-FFF2-40B4-BE49-F238E27FC236}">
                <a16:creationId xmlns:a16="http://schemas.microsoft.com/office/drawing/2014/main" id="{331F594F-06E9-4AB3-B39D-7BC814E0FC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>
            <a:extLst>
              <a:ext uri="{FF2B5EF4-FFF2-40B4-BE49-F238E27FC236}">
                <a16:creationId xmlns:a16="http://schemas.microsoft.com/office/drawing/2014/main" id="{9068951C-BDAC-4D46-A5EE-0E5AD5F264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rmAutofit/>
          </a:bodyPr>
          <a:lstStyle>
            <a:lvl1pPr marL="45720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>
            <a:extLst>
              <a:ext uri="{FF2B5EF4-FFF2-40B4-BE49-F238E27FC236}">
                <a16:creationId xmlns:a16="http://schemas.microsoft.com/office/drawing/2014/main" id="{B1455B03-1635-4CE9-BF14-FB627481D78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>
            <a:extLst>
              <a:ext uri="{FF2B5EF4-FFF2-40B4-BE49-F238E27FC236}">
                <a16:creationId xmlns:a16="http://schemas.microsoft.com/office/drawing/2014/main" id="{C561D31C-C6FA-40CE-AF44-E1497E4E91E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>
            <a:extLst>
              <a:ext uri="{FF2B5EF4-FFF2-40B4-BE49-F238E27FC236}">
                <a16:creationId xmlns:a16="http://schemas.microsoft.com/office/drawing/2014/main" id="{6B39C5DF-3CAA-45D5-B1FB-B6F0C7B1D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>
            <a:extLst>
              <a:ext uri="{FF2B5EF4-FFF2-40B4-BE49-F238E27FC236}">
                <a16:creationId xmlns:a16="http://schemas.microsoft.com/office/drawing/2014/main" id="{658A773C-39FC-4F86-A703-2DDDB58E5A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>
            <a:normAutofit/>
          </a:bodyPr>
          <a:lstStyle>
            <a:lvl1pPr marL="45720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13">
            <a:extLst>
              <a:ext uri="{FF2B5EF4-FFF2-40B4-BE49-F238E27FC236}">
                <a16:creationId xmlns:a16="http://schemas.microsoft.com/office/drawing/2014/main" id="{9BFEE3FF-C4F6-4986-BEAD-4A2DFC142D80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4E501CDB-0897-434A-AD94-88055CCC2BF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3">
            <a:extLst>
              <a:ext uri="{FF2B5EF4-FFF2-40B4-BE49-F238E27FC236}">
                <a16:creationId xmlns:a16="http://schemas.microsoft.com/office/drawing/2014/main" id="{0EC23B3A-3D6A-41DD-808A-E4C50C0B7ED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>
            <a:extLst>
              <a:ext uri="{FF2B5EF4-FFF2-40B4-BE49-F238E27FC236}">
                <a16:creationId xmlns:a16="http://schemas.microsoft.com/office/drawing/2014/main" id="{D1AB87A4-7EB0-446C-BAA8-F06C7AEC32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>
            <a:extLst>
              <a:ext uri="{FF2B5EF4-FFF2-40B4-BE49-F238E27FC236}">
                <a16:creationId xmlns:a16="http://schemas.microsoft.com/office/drawing/2014/main" id="{BB690461-0262-4220-B9B4-6ED6E828B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>
            <a:extLst>
              <a:ext uri="{FF2B5EF4-FFF2-40B4-BE49-F238E27FC236}">
                <a16:creationId xmlns:a16="http://schemas.microsoft.com/office/drawing/2014/main" id="{638E0920-4F79-4C0E-B070-3ADB30441B1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png"/><Relationship Id="rId6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6.png"/><Relationship Id="rId5" Type="http://schemas.openxmlformats.org/officeDocument/2006/relationships/image" Target="../media/image4.png"/><Relationship Id="rId6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60;p14"/>
          <p:cNvPicPr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753684" y="0"/>
            <a:ext cx="3636633" cy="5143500"/>
          </a:xfrm>
          <a:prstGeom prst="rect">
            <a:avLst/>
          </a:prstGeom>
          <a:ln>
            <a:noFill/>
          </a:ln>
        </p:spPr>
      </p:pic>
      <p:sp>
        <p:nvSpPr>
          <p:cNvPr id="2" name="Meeting title">
            <a:extLst>
              <a:ext uri="{FF2B5EF4-FFF2-40B4-BE49-F238E27FC236}">
                <a16:creationId xmlns:a16="http://schemas.microsoft.com/office/drawing/2014/main" id="{E1614F94-EA7D-449C-8B50-18A1CADB9D4F}"/>
              </a:ext>
            </a:extLst>
          </p:cNvPr>
          <p:cNvSpPr>
            <a:spLocks noGrp="1"/>
          </p:cNvSpPr>
          <p:nvPr/>
        </p:nvSpPr>
        <p:spPr>
          <a:xfrm>
            <a:off x="523875" y="4286250"/>
            <a:ext cx="8096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ION-I Scientific Visualization</a:t>
            </a:r>
          </a:p>
        </p:txBody>
      </p:sp>
      <p:sp>
        <p:nvSpPr>
          <p:cNvPr id="3" name="Meeting subtitle">
            <a:extLst>
              <a:ext uri="{FF2B5EF4-FFF2-40B4-BE49-F238E27FC236}">
                <a16:creationId xmlns:a16="http://schemas.microsoft.com/office/drawing/2014/main" id="{5A620D61-9513-4A99-B7CB-C9B9272E6E67}"/>
              </a:ext>
            </a:extLst>
          </p:cNvPr>
          <p:cNvSpPr>
            <a:spLocks noGrp="1"/>
          </p:cNvSpPr>
          <p:nvPr/>
        </p:nvSpPr>
        <p:spPr>
          <a:xfrm>
            <a:off x="523875" y="4695825"/>
            <a:ext cx="80962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Fall 2026 Kickoff</a:t>
            </a:r>
          </a:p>
        </p:txBody>
      </p:sp>
    </p:spTree>
    <p:extLst>
      <p:ext uri="{BB962C8B-B14F-4D97-AF65-F5344CB8AC3E}">
        <p14:creationId xmlns:p14="http://schemas.microsoft.com/office/powerpoint/2010/main" val="14314219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>
            <a:extLst>
              <a:ext uri="{FF2B5EF4-FFF2-40B4-BE49-F238E27FC236}">
                <a16:creationId xmlns:a16="http://schemas.microsoft.com/office/drawing/2014/main" id="{F29C6079-CF50-3950-F7B3-37C5016CD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828675"/>
            <a:ext cx="795337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Research scope</a:t>
            </a:r>
            <a:endParaRPr/>
          </a:p>
        </p:txBody>
      </p:sp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C50CF39B-81F0-A7BF-E4FB-18A3BA818FA8}"/>
              </a:ext>
            </a:extLst>
          </p:cNvPr>
          <p:cNvSpPr>
            <a:spLocks noGrp="1"/>
          </p:cNvSpPr>
          <p:nvPr/>
        </p:nvSpPr>
        <p:spPr>
          <a:xfrm>
            <a:off x="0" y="-4697"/>
            <a:ext cx="9144000" cy="580200"/>
          </a:xfrm>
          <a:prstGeom prst="rect">
            <a:avLst/>
          </a:prstGeom>
          <a:solidFill>
            <a:srgbClr val="11284C"/>
          </a:solidFill>
          <a:ln>
            <a:noFill/>
          </a:ln>
        </p:spPr>
        <p:txBody>
          <a:bodyPr spcFirstLastPara="1" wrap="square" lIns="68575" tIns="34275" rIns="68575" bIns="34275" anchor="ctr">
            <a:no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E003ECB4-68A0-AF72-FDFD-EB7C2DD32890}"/>
              </a:ext>
            </a:extLst>
          </p:cNvPr>
          <p:cNvSpPr>
            <a:spLocks noGrp="1"/>
          </p:cNvSpPr>
          <p:nvPr/>
        </p:nvSpPr>
        <p:spPr>
          <a:xfrm>
            <a:off x="6349014" y="50217"/>
            <a:ext cx="27390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>
            <a:sp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rPr>
              <a:t>Electric Propulsion Initiative - ION-I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0" name="Google Shape;78;p16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1161" y="50231"/>
            <a:ext cx="326328" cy="470421"/>
          </a:xfrm>
          <a:prstGeom prst="rect">
            <a:avLst/>
          </a:prstGeom>
          <a:ln>
            <a:noFill/>
          </a:ln>
        </p:spPr>
      </p:pic>
      <p:pic>
        <p:nvPicPr>
          <p:cNvPr id="91" name="Google Shape;79;p16"/>
          <p:cNvPicPr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" y="-103200"/>
            <a:ext cx="533165" cy="754089"/>
          </a:xfrm>
          <a:prstGeom prst="rect">
            <a:avLst/>
          </a:prstGeom>
          <a:ln>
            <a:noFill/>
          </a:ln>
        </p:spPr>
      </p:pic>
      <p:cxnSp>
        <p:nvCxnSpPr>
          <p:cNvPr id="92" name="Google Shape;80;p16"/>
          <p:cNvCxnSpPr/>
          <p:nvPr/>
        </p:nvCxnSpPr>
        <p:spPr>
          <a:xfrm>
            <a:off x="589359" y="50231"/>
            <a:ext cx="0" cy="454500"/>
          </a:xfrm>
          <a:prstGeom prst="straightConnector1">
            <a:avLst/>
          </a:prstGeom>
          <a:ln w="1905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  <p:pic>
        <p:nvPicPr>
          <p:cNvPr id="93" name="Google Shape;81;p16"/>
          <p:cNvPicPr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732825" y="3955187"/>
            <a:ext cx="1239726" cy="1753416"/>
          </a:xfrm>
          <a:prstGeom prst="rect">
            <a:avLst/>
          </a:prstGeom>
          <a:ln>
            <a:noFill/>
          </a:ln>
        </p:spPr>
      </p:pic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D6B236AD-7344-733D-C8D4-7FFF4844EC55}"/>
              </a:ext>
            </a:extLst>
          </p:cNvPr>
          <p:cNvSpPr>
            <a:spLocks noGrp="1"/>
          </p:cNvSpPr>
          <p:nvPr/>
        </p:nvSpPr>
        <p:spPr>
          <a:xfrm>
            <a:off x="8829675" y="4838700"/>
            <a:ext cx="257175" cy="281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2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25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3B32CF-B251-58B0-7BAB-AFB6BCFA3973}"/>
              </a:ext>
            </a:extLst>
          </p:cNvPr>
          <p:cNvSpPr>
            <a:spLocks noGrp="1"/>
          </p:cNvSpPr>
          <p:nvPr/>
        </p:nvSpPr>
        <p:spPr>
          <a:xfrm>
            <a:off x="209550" y="4810125"/>
            <a:ext cx="2381250" cy="3657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6350" marR="0"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000000"/>
                </a:solidFill>
                <a:latin typeface="Arial"/>
                <a:ea typeface="Arial"/>
                <a:cs typeface="Arial"/>
              </a:rPr>
              <a:t>Fall 2026</a:t>
            </a:r>
            <a:endParaRPr sz="1400">
              <a:solidFill>
                <a:schemeClr val="dk1"/>
              </a:solidFill>
            </a:endParaRPr>
          </a:p>
        </p:txBody>
      </p:sp>
      <p:sp>
        <p:nvSpPr>
          <p:cNvPr id="86" name="Main bullets">
            <a:extLst>
              <a:ext uri="{FF2B5EF4-FFF2-40B4-BE49-F238E27FC236}">
                <a16:creationId xmlns:a16="http://schemas.microsoft.com/office/drawing/2014/main" id="{959ADAE8-AE81-4B6A-957C-54ACA1F407A0}"/>
              </a:ext>
            </a:extLst>
          </p:cNvPr>
          <p:cNvSpPr>
            <a:spLocks noGrp="1"/>
          </p:cNvSpPr>
          <p:nvPr/>
        </p:nvSpPr>
        <p:spPr>
          <a:xfrm>
            <a:off x="714375" y="1619250"/>
            <a:ext cx="7734300" cy="2905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80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Scientific visualization within Plasma Source</a:t>
            </a:r>
          </a:p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80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Extend particle visualization to engineering geometry and field data</a:t>
            </a:r>
          </a:p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80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Develop scientific figures for papers and technical reviews</a:t>
            </a:r>
          </a:p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80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This semester: Club homepage for research results and visualizations</a:t>
            </a:r>
          </a:p>
        </p:txBody>
      </p:sp>
    </p:spTree>
    <p:extLst>
      <p:ext uri="{BB962C8B-B14F-4D97-AF65-F5344CB8AC3E}">
        <p14:creationId xmlns:p14="http://schemas.microsoft.com/office/powerpoint/2010/main" val="40312465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>
            <a:extLst>
              <a:ext uri="{FF2B5EF4-FFF2-40B4-BE49-F238E27FC236}">
                <a16:creationId xmlns:a16="http://schemas.microsoft.com/office/drawing/2014/main" id="{F29C6079-CF50-3950-F7B3-37C5016CD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828675"/>
            <a:ext cx="795337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Plasma-source physics</a:t>
            </a:r>
            <a:endParaRPr/>
          </a:p>
        </p:txBody>
      </p:sp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C50CF39B-81F0-A7BF-E4FB-18A3BA818FA8}"/>
              </a:ext>
            </a:extLst>
          </p:cNvPr>
          <p:cNvSpPr>
            <a:spLocks noGrp="1"/>
          </p:cNvSpPr>
          <p:nvPr/>
        </p:nvSpPr>
        <p:spPr>
          <a:xfrm>
            <a:off x="0" y="-4697"/>
            <a:ext cx="9144000" cy="580200"/>
          </a:xfrm>
          <a:prstGeom prst="rect">
            <a:avLst/>
          </a:prstGeom>
          <a:solidFill>
            <a:srgbClr val="11284C"/>
          </a:solidFill>
          <a:ln>
            <a:noFill/>
          </a:ln>
        </p:spPr>
        <p:txBody>
          <a:bodyPr spcFirstLastPara="1" wrap="square" lIns="68575" tIns="34275" rIns="68575" bIns="34275" anchor="ctr">
            <a:no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E003ECB4-68A0-AF72-FDFD-EB7C2DD32890}"/>
              </a:ext>
            </a:extLst>
          </p:cNvPr>
          <p:cNvSpPr>
            <a:spLocks noGrp="1"/>
          </p:cNvSpPr>
          <p:nvPr/>
        </p:nvSpPr>
        <p:spPr>
          <a:xfrm>
            <a:off x="6349014" y="50217"/>
            <a:ext cx="27390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>
            <a:sp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rPr>
              <a:t>Electric Propulsion Initiative - ION-I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2" name="Google Shape;78;p16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1161" y="50231"/>
            <a:ext cx="326328" cy="470421"/>
          </a:xfrm>
          <a:prstGeom prst="rect">
            <a:avLst/>
          </a:prstGeom>
          <a:ln>
            <a:noFill/>
          </a:ln>
        </p:spPr>
      </p:pic>
      <p:pic>
        <p:nvPicPr>
          <p:cNvPr id="93" name="Google Shape;79;p16"/>
          <p:cNvPicPr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" y="-103200"/>
            <a:ext cx="533165" cy="754089"/>
          </a:xfrm>
          <a:prstGeom prst="rect">
            <a:avLst/>
          </a:prstGeom>
          <a:ln>
            <a:noFill/>
          </a:ln>
        </p:spPr>
      </p:pic>
      <p:cxnSp>
        <p:nvCxnSpPr>
          <p:cNvPr id="94" name="Google Shape;80;p16"/>
          <p:cNvCxnSpPr/>
          <p:nvPr/>
        </p:nvCxnSpPr>
        <p:spPr>
          <a:xfrm>
            <a:off x="589359" y="50231"/>
            <a:ext cx="0" cy="454500"/>
          </a:xfrm>
          <a:prstGeom prst="straightConnector1">
            <a:avLst/>
          </a:prstGeom>
          <a:ln w="1905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  <p:pic>
        <p:nvPicPr>
          <p:cNvPr id="95" name="Google Shape;81;p16"/>
          <p:cNvPicPr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732825" y="3955187"/>
            <a:ext cx="1239726" cy="1753416"/>
          </a:xfrm>
          <a:prstGeom prst="rect">
            <a:avLst/>
          </a:prstGeom>
          <a:ln>
            <a:noFill/>
          </a:ln>
        </p:spPr>
      </p:pic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D6B236AD-7344-733D-C8D4-7FFF4844EC55}"/>
              </a:ext>
            </a:extLst>
          </p:cNvPr>
          <p:cNvSpPr>
            <a:spLocks noGrp="1"/>
          </p:cNvSpPr>
          <p:nvPr/>
        </p:nvSpPr>
        <p:spPr>
          <a:xfrm>
            <a:off x="8829675" y="4838700"/>
            <a:ext cx="257175" cy="281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2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25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3B32CF-B251-58B0-7BAB-AFB6BCFA3973}"/>
              </a:ext>
            </a:extLst>
          </p:cNvPr>
          <p:cNvSpPr>
            <a:spLocks noGrp="1"/>
          </p:cNvSpPr>
          <p:nvPr/>
        </p:nvSpPr>
        <p:spPr>
          <a:xfrm>
            <a:off x="209550" y="4810125"/>
            <a:ext cx="2381250" cy="3657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6350" marR="0"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000000"/>
                </a:solidFill>
                <a:latin typeface="Arial"/>
                <a:ea typeface="Arial"/>
                <a:cs typeface="Arial"/>
              </a:rPr>
              <a:t>Fall 2026</a:t>
            </a:r>
            <a:endParaRPr sz="1400">
              <a:solidFill>
                <a:schemeClr val="dk1"/>
              </a:solidFill>
            </a:endParaRPr>
          </a:p>
        </p:txBody>
      </p:sp>
      <p:sp>
        <p:nvSpPr>
          <p:cNvPr id="86" name="Image commentary">
            <a:extLst>
              <a:ext uri="{FF2B5EF4-FFF2-40B4-BE49-F238E27FC236}">
                <a16:creationId xmlns:a16="http://schemas.microsoft.com/office/drawing/2014/main" id="{344320F0-F0A9-4293-B214-A90B977DB207}"/>
              </a:ext>
            </a:extLst>
          </p:cNvPr>
          <p:cNvSpPr>
            <a:spLocks noGrp="1"/>
          </p:cNvSpPr>
          <p:nvPr/>
        </p:nvSpPr>
        <p:spPr>
          <a:xfrm>
            <a:off x="714375" y="1619250"/>
            <a:ext cx="3162300" cy="2619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50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Reference device: Gott &amp; Xu’s microplasma cathode</a:t>
            </a:r>
          </a:p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50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Electron-emission models for the tungsten electrode</a:t>
            </a:r>
          </a:p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50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Electron-impact excitation and ionization of argon</a:t>
            </a:r>
          </a:p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50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Metastable argon and stepwise ionization pathways</a:t>
            </a:r>
          </a:p>
        </p:txBody>
      </p:sp>
      <p:pic>
        <p:nvPicPr>
          <p:cNvPr id="99" name="Picture 98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4191000" y="1897742"/>
            <a:ext cx="4267200" cy="2157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2465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>
            <a:extLst>
              <a:ext uri="{FF2B5EF4-FFF2-40B4-BE49-F238E27FC236}">
                <a16:creationId xmlns:a16="http://schemas.microsoft.com/office/drawing/2014/main" id="{F29C6079-CF50-3950-F7B3-37C5016CD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828675"/>
            <a:ext cx="795337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Particle-state visualization</a:t>
            </a:r>
            <a:endParaRPr/>
          </a:p>
        </p:txBody>
      </p:sp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C50CF39B-81F0-A7BF-E4FB-18A3BA818FA8}"/>
              </a:ext>
            </a:extLst>
          </p:cNvPr>
          <p:cNvSpPr>
            <a:spLocks noGrp="1"/>
          </p:cNvSpPr>
          <p:nvPr/>
        </p:nvSpPr>
        <p:spPr>
          <a:xfrm>
            <a:off x="0" y="-4697"/>
            <a:ext cx="9144000" cy="580200"/>
          </a:xfrm>
          <a:prstGeom prst="rect">
            <a:avLst/>
          </a:prstGeom>
          <a:solidFill>
            <a:srgbClr val="11284C"/>
          </a:solidFill>
          <a:ln>
            <a:noFill/>
          </a:ln>
        </p:spPr>
        <p:txBody>
          <a:bodyPr spcFirstLastPara="1" wrap="square" lIns="68575" tIns="34275" rIns="68575" bIns="34275" anchor="ctr">
            <a:no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E003ECB4-68A0-AF72-FDFD-EB7C2DD32890}"/>
              </a:ext>
            </a:extLst>
          </p:cNvPr>
          <p:cNvSpPr>
            <a:spLocks noGrp="1"/>
          </p:cNvSpPr>
          <p:nvPr/>
        </p:nvSpPr>
        <p:spPr>
          <a:xfrm>
            <a:off x="6349014" y="50217"/>
            <a:ext cx="27390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>
            <a:sp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rPr>
              <a:t>Electric Propulsion Initiative - ION-I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2" name="Google Shape;78;p16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1161" y="50231"/>
            <a:ext cx="326328" cy="470421"/>
          </a:xfrm>
          <a:prstGeom prst="rect">
            <a:avLst/>
          </a:prstGeom>
          <a:ln>
            <a:noFill/>
          </a:ln>
        </p:spPr>
      </p:pic>
      <p:pic>
        <p:nvPicPr>
          <p:cNvPr id="93" name="Google Shape;79;p16"/>
          <p:cNvPicPr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" y="-103200"/>
            <a:ext cx="533165" cy="754089"/>
          </a:xfrm>
          <a:prstGeom prst="rect">
            <a:avLst/>
          </a:prstGeom>
          <a:ln>
            <a:noFill/>
          </a:ln>
        </p:spPr>
      </p:pic>
      <p:cxnSp>
        <p:nvCxnSpPr>
          <p:cNvPr id="94" name="Google Shape;80;p16"/>
          <p:cNvCxnSpPr/>
          <p:nvPr/>
        </p:nvCxnSpPr>
        <p:spPr>
          <a:xfrm>
            <a:off x="589359" y="50231"/>
            <a:ext cx="0" cy="454500"/>
          </a:xfrm>
          <a:prstGeom prst="straightConnector1">
            <a:avLst/>
          </a:prstGeom>
          <a:ln w="1905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  <p:pic>
        <p:nvPicPr>
          <p:cNvPr id="95" name="Google Shape;81;p16"/>
          <p:cNvPicPr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732825" y="3955187"/>
            <a:ext cx="1239726" cy="1753416"/>
          </a:xfrm>
          <a:prstGeom prst="rect">
            <a:avLst/>
          </a:prstGeom>
          <a:ln>
            <a:noFill/>
          </a:ln>
        </p:spPr>
      </p:pic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D6B236AD-7344-733D-C8D4-7FFF4844EC55}"/>
              </a:ext>
            </a:extLst>
          </p:cNvPr>
          <p:cNvSpPr>
            <a:spLocks noGrp="1"/>
          </p:cNvSpPr>
          <p:nvPr/>
        </p:nvSpPr>
        <p:spPr>
          <a:xfrm>
            <a:off x="8829675" y="4838700"/>
            <a:ext cx="257175" cy="281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2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25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3B32CF-B251-58B0-7BAB-AFB6BCFA3973}"/>
              </a:ext>
            </a:extLst>
          </p:cNvPr>
          <p:cNvSpPr>
            <a:spLocks noGrp="1"/>
          </p:cNvSpPr>
          <p:nvPr/>
        </p:nvSpPr>
        <p:spPr>
          <a:xfrm>
            <a:off x="209550" y="4810125"/>
            <a:ext cx="2381250" cy="3657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6350" marR="0"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000000"/>
                </a:solidFill>
                <a:latin typeface="Arial"/>
                <a:ea typeface="Arial"/>
                <a:cs typeface="Arial"/>
              </a:rPr>
              <a:t>Fall 2026</a:t>
            </a:r>
            <a:endParaRPr sz="1400">
              <a:solidFill>
                <a:schemeClr val="dk1"/>
              </a:solidFill>
            </a:endParaRPr>
          </a:p>
        </p:txBody>
      </p:sp>
      <p:sp>
        <p:nvSpPr>
          <p:cNvPr id="86" name="Slide introduction">
            <a:extLst>
              <a:ext uri="{FF2B5EF4-FFF2-40B4-BE49-F238E27FC236}">
                <a16:creationId xmlns:a16="http://schemas.microsoft.com/office/drawing/2014/main" id="{8526F57D-8710-4494-82DA-EB0E0B2C5E2D}"/>
              </a:ext>
            </a:extLst>
          </p:cNvPr>
          <p:cNvSpPr>
            <a:spLocks noGrp="1"/>
          </p:cNvSpPr>
          <p:nvPr/>
        </p:nvSpPr>
        <p:spPr>
          <a:xfrm>
            <a:off x="714375" y="1438275"/>
            <a:ext cx="77343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505 tracked particle IDs across 150 frames</a:t>
            </a:r>
          </a:p>
          <a:p>
            <a:pPr>
              <a:lnSpc>
                <a:spcPct val="108000"/>
              </a:lnSpc>
              <a:buNone/>
              <a:defRPr sz="165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Neutral Ar, metastable Ar, ions and electrons</a:t>
            </a:r>
          </a:p>
        </p:txBody>
      </p:sp>
      <p:pic>
        <p:nvPicPr>
          <p:cNvPr id="99" name="Picture 98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2280114" y="2019300"/>
            <a:ext cx="4602822" cy="2400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246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>
            <a:extLst>
              <a:ext uri="{FF2B5EF4-FFF2-40B4-BE49-F238E27FC236}">
                <a16:creationId xmlns:a16="http://schemas.microsoft.com/office/drawing/2014/main" id="{F29C6079-CF50-3950-F7B3-37C5016CD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828675"/>
            <a:ext cx="795337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semester’s main project</a:t>
            </a:r>
            <a:endParaRPr/>
          </a:p>
        </p:txBody>
      </p:sp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C50CF39B-81F0-A7BF-E4FB-18A3BA818FA8}"/>
              </a:ext>
            </a:extLst>
          </p:cNvPr>
          <p:cNvSpPr>
            <a:spLocks noGrp="1"/>
          </p:cNvSpPr>
          <p:nvPr/>
        </p:nvSpPr>
        <p:spPr>
          <a:xfrm>
            <a:off x="0" y="-4697"/>
            <a:ext cx="9144000" cy="580200"/>
          </a:xfrm>
          <a:prstGeom prst="rect">
            <a:avLst/>
          </a:prstGeom>
          <a:solidFill>
            <a:srgbClr val="11284C"/>
          </a:solidFill>
          <a:ln>
            <a:noFill/>
          </a:ln>
        </p:spPr>
        <p:txBody>
          <a:bodyPr spcFirstLastPara="1" wrap="square" lIns="68575" tIns="34275" rIns="68575" bIns="34275" anchor="ctr">
            <a:no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E003ECB4-68A0-AF72-FDFD-EB7C2DD32890}"/>
              </a:ext>
            </a:extLst>
          </p:cNvPr>
          <p:cNvSpPr>
            <a:spLocks noGrp="1"/>
          </p:cNvSpPr>
          <p:nvPr/>
        </p:nvSpPr>
        <p:spPr>
          <a:xfrm>
            <a:off x="6349014" y="50217"/>
            <a:ext cx="27390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>
            <a:sp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rPr>
              <a:t>Electric Propulsion Initiative - ION-I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2" name="Google Shape;78;p16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1161" y="50231"/>
            <a:ext cx="326328" cy="470421"/>
          </a:xfrm>
          <a:prstGeom prst="rect">
            <a:avLst/>
          </a:prstGeom>
          <a:ln>
            <a:noFill/>
          </a:ln>
        </p:spPr>
      </p:pic>
      <p:pic>
        <p:nvPicPr>
          <p:cNvPr id="93" name="Google Shape;79;p16"/>
          <p:cNvPicPr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" y="-103200"/>
            <a:ext cx="533165" cy="754089"/>
          </a:xfrm>
          <a:prstGeom prst="rect">
            <a:avLst/>
          </a:prstGeom>
          <a:ln>
            <a:noFill/>
          </a:ln>
        </p:spPr>
      </p:pic>
      <p:cxnSp>
        <p:nvCxnSpPr>
          <p:cNvPr id="94" name="Google Shape;80;p16"/>
          <p:cNvCxnSpPr/>
          <p:nvPr/>
        </p:nvCxnSpPr>
        <p:spPr>
          <a:xfrm>
            <a:off x="589359" y="50231"/>
            <a:ext cx="0" cy="454500"/>
          </a:xfrm>
          <a:prstGeom prst="straightConnector1">
            <a:avLst/>
          </a:prstGeom>
          <a:ln w="1905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  <p:pic>
        <p:nvPicPr>
          <p:cNvPr id="95" name="Google Shape;81;p16"/>
          <p:cNvPicPr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732825" y="3955187"/>
            <a:ext cx="1239726" cy="1753416"/>
          </a:xfrm>
          <a:prstGeom prst="rect">
            <a:avLst/>
          </a:prstGeom>
          <a:ln>
            <a:noFill/>
          </a:ln>
        </p:spPr>
      </p:pic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D6B236AD-7344-733D-C8D4-7FFF4844EC55}"/>
              </a:ext>
            </a:extLst>
          </p:cNvPr>
          <p:cNvSpPr>
            <a:spLocks noGrp="1"/>
          </p:cNvSpPr>
          <p:nvPr/>
        </p:nvSpPr>
        <p:spPr>
          <a:xfrm>
            <a:off x="8829675" y="4838700"/>
            <a:ext cx="257175" cy="281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2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25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3B32CF-B251-58B0-7BAB-AFB6BCFA3973}"/>
              </a:ext>
            </a:extLst>
          </p:cNvPr>
          <p:cNvSpPr>
            <a:spLocks noGrp="1"/>
          </p:cNvSpPr>
          <p:nvPr/>
        </p:nvSpPr>
        <p:spPr>
          <a:xfrm>
            <a:off x="209550" y="4810125"/>
            <a:ext cx="2381250" cy="3657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6350" marR="0"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000000"/>
                </a:solidFill>
                <a:latin typeface="Arial"/>
                <a:ea typeface="Arial"/>
                <a:cs typeface="Arial"/>
              </a:rPr>
              <a:t>Fall 2026</a:t>
            </a:r>
            <a:endParaRPr sz="1400">
              <a:solidFill>
                <a:schemeClr val="dk1"/>
              </a:solidFill>
            </a:endParaRPr>
          </a:p>
        </p:txBody>
      </p:sp>
      <p:sp>
        <p:nvSpPr>
          <p:cNvPr id="86" name="Slide introduction">
            <a:extLst>
              <a:ext uri="{FF2B5EF4-FFF2-40B4-BE49-F238E27FC236}">
                <a16:creationId xmlns:a16="http://schemas.microsoft.com/office/drawing/2014/main" id="{B8F1483B-FB4D-492E-94FB-23C7526FDDD6}"/>
              </a:ext>
            </a:extLst>
          </p:cNvPr>
          <p:cNvSpPr>
            <a:spLocks noGrp="1"/>
          </p:cNvSpPr>
          <p:nvPr/>
        </p:nvSpPr>
        <p:spPr>
          <a:xfrm>
            <a:off x="714375" y="1438275"/>
            <a:ext cx="77343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Club homepage</a:t>
            </a:r>
          </a:p>
        </p:txBody>
      </p:sp>
      <p:sp>
        <p:nvSpPr>
          <p:cNvPr id="87" name="Main bullets">
            <a:extLst>
              <a:ext uri="{FF2B5EF4-FFF2-40B4-BE49-F238E27FC236}">
                <a16:creationId xmlns:a16="http://schemas.microsoft.com/office/drawing/2014/main" id="{211AE939-D7DF-44D9-A71C-20127A8F71E3}"/>
              </a:ext>
            </a:extLst>
          </p:cNvPr>
          <p:cNvSpPr>
            <a:spLocks noGrp="1"/>
          </p:cNvSpPr>
          <p:nvPr/>
        </p:nvSpPr>
        <p:spPr>
          <a:xfrm>
            <a:off x="714375" y="1971675"/>
            <a:ext cx="7734300" cy="2905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80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Publish ION-I’s research projects, methods and technical results</a:t>
            </a:r>
          </a:p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80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Present scientific figures with interactive views of the underlying data</a:t>
            </a:r>
          </a:p>
        </p:txBody>
      </p:sp>
    </p:spTree>
    <p:extLst>
      <p:ext uri="{BB962C8B-B14F-4D97-AF65-F5344CB8AC3E}">
        <p14:creationId xmlns:p14="http://schemas.microsoft.com/office/powerpoint/2010/main" val="40312465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>
            <a:extLst>
              <a:ext uri="{FF2B5EF4-FFF2-40B4-BE49-F238E27FC236}">
                <a16:creationId xmlns:a16="http://schemas.microsoft.com/office/drawing/2014/main" id="{F29C6079-CF50-3950-F7B3-37C5016CD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828675"/>
            <a:ext cx="795337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Proposed research workflow</a:t>
            </a:r>
            <a:endParaRPr/>
          </a:p>
        </p:txBody>
      </p:sp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C50CF39B-81F0-A7BF-E4FB-18A3BA818FA8}"/>
              </a:ext>
            </a:extLst>
          </p:cNvPr>
          <p:cNvSpPr>
            <a:spLocks noGrp="1"/>
          </p:cNvSpPr>
          <p:nvPr/>
        </p:nvSpPr>
        <p:spPr>
          <a:xfrm>
            <a:off x="0" y="-4697"/>
            <a:ext cx="9144000" cy="580200"/>
          </a:xfrm>
          <a:prstGeom prst="rect">
            <a:avLst/>
          </a:prstGeom>
          <a:solidFill>
            <a:srgbClr val="11284C"/>
          </a:solidFill>
          <a:ln>
            <a:noFill/>
          </a:ln>
        </p:spPr>
        <p:txBody>
          <a:bodyPr spcFirstLastPara="1" wrap="square" lIns="68575" tIns="34275" rIns="68575" bIns="34275" anchor="ctr">
            <a:no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E003ECB4-68A0-AF72-FDFD-EB7C2DD32890}"/>
              </a:ext>
            </a:extLst>
          </p:cNvPr>
          <p:cNvSpPr>
            <a:spLocks noGrp="1"/>
          </p:cNvSpPr>
          <p:nvPr/>
        </p:nvSpPr>
        <p:spPr>
          <a:xfrm>
            <a:off x="6349014" y="50217"/>
            <a:ext cx="27390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>
            <a:sp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rPr>
              <a:t>Electric Propulsion Initiative - ION-I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1" name="Google Shape;78;p16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1161" y="50231"/>
            <a:ext cx="326328" cy="470421"/>
          </a:xfrm>
          <a:prstGeom prst="rect">
            <a:avLst/>
          </a:prstGeom>
          <a:ln>
            <a:noFill/>
          </a:ln>
        </p:spPr>
      </p:pic>
      <p:pic>
        <p:nvPicPr>
          <p:cNvPr id="92" name="Google Shape;79;p16"/>
          <p:cNvPicPr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" y="-103200"/>
            <a:ext cx="533165" cy="754089"/>
          </a:xfrm>
          <a:prstGeom prst="rect">
            <a:avLst/>
          </a:prstGeom>
          <a:ln>
            <a:noFill/>
          </a:ln>
        </p:spPr>
      </p:pic>
      <p:cxnSp>
        <p:nvCxnSpPr>
          <p:cNvPr id="93" name="Google Shape;80;p16"/>
          <p:cNvCxnSpPr/>
          <p:nvPr/>
        </p:nvCxnSpPr>
        <p:spPr>
          <a:xfrm>
            <a:off x="589359" y="50231"/>
            <a:ext cx="0" cy="454500"/>
          </a:xfrm>
          <a:prstGeom prst="straightConnector1">
            <a:avLst/>
          </a:prstGeom>
          <a:ln w="1905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  <p:pic>
        <p:nvPicPr>
          <p:cNvPr id="94" name="Google Shape;81;p16"/>
          <p:cNvPicPr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732825" y="3955187"/>
            <a:ext cx="1239726" cy="1753416"/>
          </a:xfrm>
          <a:prstGeom prst="rect">
            <a:avLst/>
          </a:prstGeom>
          <a:ln>
            <a:noFill/>
          </a:ln>
        </p:spPr>
      </p:pic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D6B236AD-7344-733D-C8D4-7FFF4844EC55}"/>
              </a:ext>
            </a:extLst>
          </p:cNvPr>
          <p:cNvSpPr>
            <a:spLocks noGrp="1"/>
          </p:cNvSpPr>
          <p:nvPr/>
        </p:nvSpPr>
        <p:spPr>
          <a:xfrm>
            <a:off x="8829675" y="4838700"/>
            <a:ext cx="257175" cy="281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2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25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3B32CF-B251-58B0-7BAB-AFB6BCFA3973}"/>
              </a:ext>
            </a:extLst>
          </p:cNvPr>
          <p:cNvSpPr>
            <a:spLocks noGrp="1"/>
          </p:cNvSpPr>
          <p:nvPr/>
        </p:nvSpPr>
        <p:spPr>
          <a:xfrm>
            <a:off x="209550" y="4810125"/>
            <a:ext cx="2381250" cy="3657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6350" marR="0"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000000"/>
                </a:solidFill>
                <a:latin typeface="Arial"/>
                <a:ea typeface="Arial"/>
                <a:cs typeface="Arial"/>
              </a:rPr>
              <a:t>Fall 2026</a:t>
            </a:r>
            <a:endParaRPr sz="1400">
              <a:solidFill>
                <a:schemeClr val="dk1"/>
              </a:solidFill>
            </a:endParaRPr>
          </a:p>
        </p:txBody>
      </p:sp>
      <p:graphicFrame>
        <p:nvGraphicFramePr>
          <p:cNvPr id="97" name="Table 96"/>
          <p:cNvGraphicFramePr/>
          <p:nvPr/>
        </p:nvGraphicFramePr>
        <p:xfrm>
          <a:off x="714375" y="1619250"/>
          <a:ext cx="7734300" cy="2705100"/>
        </p:xfrm>
        <a:graphic>
          <a:graphicData uri="http://schemas.openxmlformats.org/drawingml/2006/table">
            <a:tbl>
              <a:tblPr/>
              <a:tblGrid>
                <a:gridCol w="2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72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762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1284C"/>
                          </a:solidFill>
                          <a:latin typeface="Arial"/>
                          <a:ea typeface="Arial"/>
                          <a:cs typeface="Arial"/>
                        </a:rPr>
                        <a:t>1  Data and geometry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04040"/>
                          </a:solidFill>
                          <a:latin typeface="Arial"/>
                          <a:ea typeface="Arial"/>
                          <a:cs typeface="Arial"/>
                        </a:rPr>
                        <a:t>Review source data and prepare geometry for visualization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62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1284C"/>
                          </a:solidFill>
                          <a:latin typeface="Arial"/>
                          <a:ea typeface="Arial"/>
                          <a:cs typeface="Arial"/>
                        </a:rPr>
                        <a:t>2  Homepage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04040"/>
                          </a:solidFill>
                          <a:latin typeface="Arial"/>
                          <a:ea typeface="Arial"/>
                          <a:cs typeface="Arial"/>
                        </a:rPr>
                        <a:t>Publish the club overview and technical project pages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62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1284C"/>
                          </a:solidFill>
                          <a:latin typeface="Arial"/>
                          <a:ea typeface="Arial"/>
                          <a:cs typeface="Arial"/>
                        </a:rPr>
                        <a:t>3  CAD and figures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04040"/>
                          </a:solidFill>
                          <a:latin typeface="Arial"/>
                          <a:ea typeface="Arial"/>
                          <a:cs typeface="Arial"/>
                        </a:rPr>
                        <a:t>Build a simplified cathode assembly and cutaway renders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2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1284C"/>
                          </a:solidFill>
                          <a:latin typeface="Arial"/>
                          <a:ea typeface="Arial"/>
                          <a:cs typeface="Arial"/>
                        </a:rPr>
                        <a:t>4  Integration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04040"/>
                          </a:solidFill>
                          <a:latin typeface="Arial"/>
                          <a:ea typeface="Arial"/>
                          <a:cs typeface="Arial"/>
                        </a:rPr>
                        <a:t>Connect the viewer and publish documented figure examples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7" name="Slide footnote">
            <a:extLst>
              <a:ext uri="{FF2B5EF4-FFF2-40B4-BE49-F238E27FC236}">
                <a16:creationId xmlns:a16="http://schemas.microsoft.com/office/drawing/2014/main" id="{4E10962B-21A8-4B0E-BFDB-C33BB70D557E}"/>
              </a:ext>
            </a:extLst>
          </p:cNvPr>
          <p:cNvSpPr>
            <a:spLocks noGrp="1"/>
          </p:cNvSpPr>
          <p:nvPr/>
        </p:nvSpPr>
        <p:spPr>
          <a:xfrm>
            <a:off x="714375" y="4505325"/>
            <a:ext cx="70104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125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125" b="0" dirty="0">
                <a:solidFill>
                  <a:srgbClr val="666666"/>
                </a:solidFill>
                <a:latin typeface="Arial"/>
                <a:ea typeface="Arial"/>
                <a:cs typeface="Arial"/>
              </a:rPr>
              <a:t>Target: Club homepage, a plasma viewer and a reproducible figure workflow</a:t>
            </a:r>
          </a:p>
        </p:txBody>
      </p:sp>
    </p:spTree>
    <p:extLst>
      <p:ext uri="{BB962C8B-B14F-4D97-AF65-F5344CB8AC3E}">
        <p14:creationId xmlns:p14="http://schemas.microsoft.com/office/powerpoint/2010/main" val="40312465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>
            <a:extLst>
              <a:ext uri="{FF2B5EF4-FFF2-40B4-BE49-F238E27FC236}">
                <a16:creationId xmlns:a16="http://schemas.microsoft.com/office/drawing/2014/main" id="{F29C6079-CF50-3950-F7B3-37C5016CD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828675"/>
            <a:ext cx="795337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Cross-team research directions</a:t>
            </a:r>
            <a:endParaRPr/>
          </a:p>
        </p:txBody>
      </p:sp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C50CF39B-81F0-A7BF-E4FB-18A3BA818FA8}"/>
              </a:ext>
            </a:extLst>
          </p:cNvPr>
          <p:cNvSpPr>
            <a:spLocks noGrp="1"/>
          </p:cNvSpPr>
          <p:nvPr/>
        </p:nvSpPr>
        <p:spPr>
          <a:xfrm>
            <a:off x="0" y="-4697"/>
            <a:ext cx="9144000" cy="580200"/>
          </a:xfrm>
          <a:prstGeom prst="rect">
            <a:avLst/>
          </a:prstGeom>
          <a:solidFill>
            <a:srgbClr val="11284C"/>
          </a:solidFill>
          <a:ln>
            <a:noFill/>
          </a:ln>
        </p:spPr>
        <p:txBody>
          <a:bodyPr spcFirstLastPara="1" wrap="square" lIns="68575" tIns="34275" rIns="68575" bIns="34275" anchor="ctr">
            <a:no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E003ECB4-68A0-AF72-FDFD-EB7C2DD32890}"/>
              </a:ext>
            </a:extLst>
          </p:cNvPr>
          <p:cNvSpPr>
            <a:spLocks noGrp="1"/>
          </p:cNvSpPr>
          <p:nvPr/>
        </p:nvSpPr>
        <p:spPr>
          <a:xfrm>
            <a:off x="6349014" y="50217"/>
            <a:ext cx="27390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>
            <a:sp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rPr>
              <a:t>Electric Propulsion Initiative - ION-I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4" name="Google Shape;78;p16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1161" y="50231"/>
            <a:ext cx="326328" cy="470421"/>
          </a:xfrm>
          <a:prstGeom prst="rect">
            <a:avLst/>
          </a:prstGeom>
          <a:ln>
            <a:noFill/>
          </a:ln>
        </p:spPr>
      </p:pic>
      <p:pic>
        <p:nvPicPr>
          <p:cNvPr id="95" name="Google Shape;79;p16"/>
          <p:cNvPicPr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" y="-103200"/>
            <a:ext cx="533165" cy="754089"/>
          </a:xfrm>
          <a:prstGeom prst="rect">
            <a:avLst/>
          </a:prstGeom>
          <a:ln>
            <a:noFill/>
          </a:ln>
        </p:spPr>
      </p:pic>
      <p:cxnSp>
        <p:nvCxnSpPr>
          <p:cNvPr id="96" name="Google Shape;80;p16"/>
          <p:cNvCxnSpPr/>
          <p:nvPr/>
        </p:nvCxnSpPr>
        <p:spPr>
          <a:xfrm>
            <a:off x="589359" y="50231"/>
            <a:ext cx="0" cy="454500"/>
          </a:xfrm>
          <a:prstGeom prst="straightConnector1">
            <a:avLst/>
          </a:prstGeom>
          <a:ln w="1905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  <p:pic>
        <p:nvPicPr>
          <p:cNvPr id="97" name="Google Shape;81;p16"/>
          <p:cNvPicPr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732825" y="3955187"/>
            <a:ext cx="1239726" cy="1753416"/>
          </a:xfrm>
          <a:prstGeom prst="rect">
            <a:avLst/>
          </a:prstGeom>
          <a:ln>
            <a:noFill/>
          </a:ln>
        </p:spPr>
      </p:pic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D6B236AD-7344-733D-C8D4-7FFF4844EC55}"/>
              </a:ext>
            </a:extLst>
          </p:cNvPr>
          <p:cNvSpPr>
            <a:spLocks noGrp="1"/>
          </p:cNvSpPr>
          <p:nvPr/>
        </p:nvSpPr>
        <p:spPr>
          <a:xfrm>
            <a:off x="8829675" y="4838700"/>
            <a:ext cx="257175" cy="495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2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25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3B32CF-B251-58B0-7BAB-AFB6BCFA3973}"/>
              </a:ext>
            </a:extLst>
          </p:cNvPr>
          <p:cNvSpPr>
            <a:spLocks noGrp="1"/>
          </p:cNvSpPr>
          <p:nvPr/>
        </p:nvSpPr>
        <p:spPr>
          <a:xfrm>
            <a:off x="209550" y="4810125"/>
            <a:ext cx="2381250" cy="3657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6350" marR="0"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000000"/>
                </a:solidFill>
                <a:latin typeface="Arial"/>
                <a:ea typeface="Arial"/>
                <a:cs typeface="Arial"/>
              </a:rPr>
              <a:t>Fall 2026</a:t>
            </a:r>
            <a:endParaRPr sz="1400">
              <a:solidFill>
                <a:schemeClr val="dk1"/>
              </a:solidFill>
            </a:endParaRPr>
          </a:p>
        </p:txBody>
      </p:sp>
      <p:sp>
        <p:nvSpPr>
          <p:cNvPr id="86" name="Column 1 heading">
            <a:extLst>
              <a:ext uri="{FF2B5EF4-FFF2-40B4-BE49-F238E27FC236}">
                <a16:creationId xmlns:a16="http://schemas.microsoft.com/office/drawing/2014/main" id="{2DE9F095-B1B7-4694-A4EB-65BCA882CC18}"/>
              </a:ext>
            </a:extLst>
          </p:cNvPr>
          <p:cNvSpPr>
            <a:spLocks noGrp="1"/>
          </p:cNvSpPr>
          <p:nvPr/>
        </p:nvSpPr>
        <p:spPr>
          <a:xfrm>
            <a:off x="714375" y="1619250"/>
            <a:ext cx="3686175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11284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284C"/>
                </a:solidFill>
                <a:latin typeface="Arial"/>
                <a:ea typeface="Arial"/>
                <a:cs typeface="Arial"/>
              </a:rPr>
              <a:t>Discharge Chamber</a:t>
            </a:r>
          </a:p>
        </p:txBody>
      </p:sp>
      <p:sp>
        <p:nvSpPr>
          <p:cNvPr id="87" name="Column 1 body">
            <a:extLst>
              <a:ext uri="{FF2B5EF4-FFF2-40B4-BE49-F238E27FC236}">
                <a16:creationId xmlns:a16="http://schemas.microsoft.com/office/drawing/2014/main" id="{BB69C427-3E75-49FD-B0A1-7642A355F868}"/>
              </a:ext>
            </a:extLst>
          </p:cNvPr>
          <p:cNvSpPr>
            <a:spLocks noGrp="1"/>
          </p:cNvSpPr>
          <p:nvPr/>
        </p:nvSpPr>
        <p:spPr>
          <a:xfrm>
            <a:off x="714375" y="2066925"/>
            <a:ext cx="3686175" cy="2428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65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Early scope: chamber and magnet geometry</a:t>
            </a:r>
          </a:p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65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With analysis data: magnetic-field maps and profiles</a:t>
            </a:r>
          </a:p>
        </p:txBody>
      </p:sp>
      <p:sp>
        <p:nvSpPr>
          <p:cNvPr id="88" name="Column 2 heading">
            <a:extLst>
              <a:ext uri="{FF2B5EF4-FFF2-40B4-BE49-F238E27FC236}">
                <a16:creationId xmlns:a16="http://schemas.microsoft.com/office/drawing/2014/main" id="{CC567F5E-3CF7-498C-B1F7-936F2B5ECBC9}"/>
              </a:ext>
            </a:extLst>
          </p:cNvPr>
          <p:cNvSpPr>
            <a:spLocks noGrp="1"/>
          </p:cNvSpPr>
          <p:nvPr/>
        </p:nvSpPr>
        <p:spPr>
          <a:xfrm>
            <a:off x="4762500" y="1619250"/>
            <a:ext cx="3686175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11284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284C"/>
                </a:solidFill>
                <a:latin typeface="Arial"/>
                <a:ea typeface="Arial"/>
                <a:cs typeface="Arial"/>
              </a:rPr>
              <a:t>Ion Optics</a:t>
            </a:r>
          </a:p>
        </p:txBody>
      </p:sp>
      <p:sp>
        <p:nvSpPr>
          <p:cNvPr id="89" name="Column 2 body">
            <a:extLst>
              <a:ext uri="{FF2B5EF4-FFF2-40B4-BE49-F238E27FC236}">
                <a16:creationId xmlns:a16="http://schemas.microsoft.com/office/drawing/2014/main" id="{097F249D-5356-46EB-8DC4-2E57F868A9BB}"/>
              </a:ext>
            </a:extLst>
          </p:cNvPr>
          <p:cNvSpPr>
            <a:spLocks noGrp="1"/>
          </p:cNvSpPr>
          <p:nvPr/>
        </p:nvSpPr>
        <p:spPr>
          <a:xfrm>
            <a:off x="4762500" y="2066925"/>
            <a:ext cx="3686175" cy="2428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65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Early scope: grid geometry and aperture alignment</a:t>
            </a:r>
          </a:p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65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With analysis data: potential contours and ion trajectories</a:t>
            </a:r>
          </a:p>
        </p:txBody>
      </p:sp>
    </p:spTree>
    <p:extLst>
      <p:ext uri="{BB962C8B-B14F-4D97-AF65-F5344CB8AC3E}">
        <p14:creationId xmlns:p14="http://schemas.microsoft.com/office/powerpoint/2010/main" val="4031246533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4" name="Google Shape;60;p14"/>
          <p:cNvPicPr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753684" y="0"/>
            <a:ext cx="3636633" cy="5143500"/>
          </a:xfrm>
          <a:prstGeom prst="rect">
            <a:avLst/>
          </a:prstGeom>
          <a:ln>
            <a:noFill/>
          </a:ln>
        </p:spPr>
      </p:pic>
      <p:sp>
        <p:nvSpPr>
          <p:cNvPr id="2" name="Meeting title">
            <a:extLst>
              <a:ext uri="{FF2B5EF4-FFF2-40B4-BE49-F238E27FC236}">
                <a16:creationId xmlns:a16="http://schemas.microsoft.com/office/drawing/2014/main" id="{E1614F94-EA7D-449C-8B50-18A1CADB9D4F}"/>
              </a:ext>
            </a:extLst>
          </p:cNvPr>
          <p:cNvSpPr>
            <a:spLocks noGrp="1"/>
          </p:cNvSpPr>
          <p:nvPr/>
        </p:nvSpPr>
        <p:spPr>
          <a:xfrm>
            <a:off x="523875" y="4286250"/>
            <a:ext cx="8096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ION-I Scientific Visualization</a:t>
            </a:r>
          </a:p>
        </p:txBody>
      </p:sp>
      <p:sp>
        <p:nvSpPr>
          <p:cNvPr id="3" name="Meeting subtitle">
            <a:extLst>
              <a:ext uri="{FF2B5EF4-FFF2-40B4-BE49-F238E27FC236}">
                <a16:creationId xmlns:a16="http://schemas.microsoft.com/office/drawing/2014/main" id="{5A620D61-9513-4A99-B7CB-C9B9272E6E67}"/>
              </a:ext>
            </a:extLst>
          </p:cNvPr>
          <p:cNvSpPr>
            <a:spLocks noGrp="1"/>
          </p:cNvSpPr>
          <p:nvPr/>
        </p:nvSpPr>
        <p:spPr>
          <a:xfrm>
            <a:off x="523875" y="4695825"/>
            <a:ext cx="80962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Week 2 Meeting · Sep 20–26,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4" name="Google Shape;74;p16">
            <a:extLst>
              <a:ext uri="{FF2B5EF4-FFF2-40B4-BE49-F238E27FC236}">
                <a16:creationId xmlns:a16="http://schemas.microsoft.com/office/drawing/2014/main" id="{F29C6079-CF50-3950-F7B3-37C5016CD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828675"/>
            <a:ext cx="795337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Agenda</a:t>
            </a:r>
            <a:endParaRPr/>
          </a:p>
        </p:txBody>
      </p:sp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C50CF39B-81F0-A7BF-E4FB-18A3BA818FA8}"/>
              </a:ext>
            </a:extLst>
          </p:cNvPr>
          <p:cNvSpPr>
            <a:spLocks noGrp="1"/>
          </p:cNvSpPr>
          <p:nvPr/>
        </p:nvSpPr>
        <p:spPr>
          <a:xfrm>
            <a:off x="0" y="-4697"/>
            <a:ext cx="9144000" cy="580200"/>
          </a:xfrm>
          <a:prstGeom prst="rect">
            <a:avLst/>
          </a:prstGeom>
          <a:solidFill>
            <a:srgbClr val="11284C"/>
          </a:solidFill>
          <a:ln>
            <a:noFill/>
          </a:ln>
        </p:spPr>
        <p:txBody>
          <a:bodyPr spcFirstLastPara="1" wrap="square" lIns="68575" tIns="34275" rIns="68575" bIns="34275" anchor="ctr">
            <a:no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E003ECB4-68A0-AF72-FDFD-EB7C2DD32890}"/>
              </a:ext>
            </a:extLst>
          </p:cNvPr>
          <p:cNvSpPr>
            <a:spLocks noGrp="1"/>
          </p:cNvSpPr>
          <p:nvPr/>
        </p:nvSpPr>
        <p:spPr>
          <a:xfrm>
            <a:off x="6349014" y="50217"/>
            <a:ext cx="27390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>
            <a:sp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rPr>
              <a:t>Electric Propulsion Initiative - ION-I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0" name="Google Shape;78;p16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1161" y="50231"/>
            <a:ext cx="326328" cy="470421"/>
          </a:xfrm>
          <a:prstGeom prst="rect">
            <a:avLst/>
          </a:prstGeom>
          <a:ln>
            <a:noFill/>
          </a:ln>
        </p:spPr>
      </p:pic>
      <p:pic>
        <p:nvPicPr>
          <p:cNvPr id="91" name="Google Shape;79;p16"/>
          <p:cNvPicPr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" y="-103200"/>
            <a:ext cx="533165" cy="754089"/>
          </a:xfrm>
          <a:prstGeom prst="rect">
            <a:avLst/>
          </a:prstGeom>
          <a:ln>
            <a:noFill/>
          </a:ln>
        </p:spPr>
      </p:pic>
      <p:cxnSp>
        <p:nvCxnSpPr>
          <p:cNvPr id="92" name="Google Shape;80;p16"/>
          <p:cNvCxnSpPr/>
          <p:nvPr/>
        </p:nvCxnSpPr>
        <p:spPr>
          <a:xfrm>
            <a:off x="589359" y="50231"/>
            <a:ext cx="0" cy="454500"/>
          </a:xfrm>
          <a:prstGeom prst="straightConnector1">
            <a:avLst/>
          </a:prstGeom>
          <a:ln w="1905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  <p:pic>
        <p:nvPicPr>
          <p:cNvPr id="93" name="Google Shape;81;p16"/>
          <p:cNvPicPr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32825" y="3955187"/>
            <a:ext cx="1239726" cy="1753416"/>
          </a:xfrm>
          <a:prstGeom prst="rect">
            <a:avLst/>
          </a:prstGeom>
          <a:ln>
            <a:noFill/>
          </a:ln>
        </p:spPr>
      </p:pic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D6B236AD-7344-733D-C8D4-7FFF4844EC55}"/>
              </a:ext>
            </a:extLst>
          </p:cNvPr>
          <p:cNvSpPr>
            <a:spLocks noGrp="1"/>
          </p:cNvSpPr>
          <p:nvPr/>
        </p:nvSpPr>
        <p:spPr>
          <a:xfrm>
            <a:off x="8829675" y="4838700"/>
            <a:ext cx="257175" cy="281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2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25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3B32CF-B251-58B0-7BAB-AFB6BCFA3973}"/>
              </a:ext>
            </a:extLst>
          </p:cNvPr>
          <p:cNvSpPr>
            <a:spLocks noGrp="1"/>
          </p:cNvSpPr>
          <p:nvPr/>
        </p:nvSpPr>
        <p:spPr>
          <a:xfrm>
            <a:off x="209550" y="4810125"/>
            <a:ext cx="2381250" cy="3657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6350" marR="0"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000000"/>
                </a:solidFill>
                <a:latin typeface="Arial"/>
                <a:ea typeface="Arial"/>
                <a:cs typeface="Arial"/>
              </a:rPr>
              <a:t>Fall 2026</a:t>
            </a:r>
            <a:endParaRPr sz="1400">
              <a:solidFill>
                <a:schemeClr val="dk1"/>
              </a:solidFill>
            </a:endParaRPr>
          </a:p>
        </p:txBody>
      </p:sp>
      <p:sp>
        <p:nvSpPr>
          <p:cNvPr id="86" name="Main bullets">
            <a:extLst>
              <a:ext uri="{FF2B5EF4-FFF2-40B4-BE49-F238E27FC236}">
                <a16:creationId xmlns:a16="http://schemas.microsoft.com/office/drawing/2014/main" id="{959ADAE8-AE81-4B6A-957C-54ACA1F407A0}"/>
              </a:ext>
            </a:extLst>
          </p:cNvPr>
          <p:cNvSpPr>
            <a:spLocks noGrp="1"/>
          </p:cNvSpPr>
          <p:nvPr/>
        </p:nvSpPr>
        <p:spPr>
          <a:xfrm>
            <a:off x="714375" y="1619250"/>
            <a:ext cx="7734300" cy="2905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80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Recap: kickoff &amp; where we stand</a:t>
            </a:r>
          </a:p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80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This week's goals: data &amp; geometry, rendering environment</a:t>
            </a:r>
          </a:p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80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Paper track &amp; coordinating with the main ION-I club</a:t>
            </a:r>
          </a:p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80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Team split, logistics, and looking ahead to Weeks 3–4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4" name="Google Shape;74;p16">
            <a:extLst>
              <a:ext uri="{FF2B5EF4-FFF2-40B4-BE49-F238E27FC236}">
                <a16:creationId xmlns:a16="http://schemas.microsoft.com/office/drawing/2014/main" id="{F29C6079-CF50-3950-F7B3-37C5016CD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828675"/>
            <a:ext cx="795337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Recap: kickoff &amp; where we stand</a:t>
            </a:r>
            <a:endParaRPr/>
          </a:p>
        </p:txBody>
      </p:sp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C50CF39B-81F0-A7BF-E4FB-18A3BA818FA8}"/>
              </a:ext>
            </a:extLst>
          </p:cNvPr>
          <p:cNvSpPr>
            <a:spLocks noGrp="1"/>
          </p:cNvSpPr>
          <p:nvPr/>
        </p:nvSpPr>
        <p:spPr>
          <a:xfrm>
            <a:off x="0" y="-4697"/>
            <a:ext cx="9144000" cy="580200"/>
          </a:xfrm>
          <a:prstGeom prst="rect">
            <a:avLst/>
          </a:prstGeom>
          <a:solidFill>
            <a:srgbClr val="11284C"/>
          </a:solidFill>
          <a:ln>
            <a:noFill/>
          </a:ln>
        </p:spPr>
        <p:txBody>
          <a:bodyPr spcFirstLastPara="1" wrap="square" lIns="68575" tIns="34275" rIns="68575" bIns="34275" anchor="ctr">
            <a:no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E003ECB4-68A0-AF72-FDFD-EB7C2DD32890}"/>
              </a:ext>
            </a:extLst>
          </p:cNvPr>
          <p:cNvSpPr>
            <a:spLocks noGrp="1"/>
          </p:cNvSpPr>
          <p:nvPr/>
        </p:nvSpPr>
        <p:spPr>
          <a:xfrm>
            <a:off x="6349014" y="50217"/>
            <a:ext cx="27390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>
            <a:sp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rPr>
              <a:t>Electric Propulsion Initiative - ION-I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2" name="Google Shape;78;p16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1161" y="50231"/>
            <a:ext cx="326328" cy="470421"/>
          </a:xfrm>
          <a:prstGeom prst="rect">
            <a:avLst/>
          </a:prstGeom>
          <a:ln>
            <a:noFill/>
          </a:ln>
        </p:spPr>
      </p:pic>
      <p:pic>
        <p:nvPicPr>
          <p:cNvPr id="93" name="Google Shape;79;p16"/>
          <p:cNvPicPr>
            <a:picLocks noChangeAspect="1"/>
          </p:cNvPicPr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28650" y="-103200"/>
            <a:ext cx="533165" cy="754089"/>
          </a:xfrm>
          <a:prstGeom prst="rect">
            <a:avLst/>
          </a:prstGeom>
          <a:ln>
            <a:noFill/>
          </a:ln>
        </p:spPr>
      </p:pic>
      <p:cxnSp>
        <p:nvCxnSpPr>
          <p:cNvPr id="94" name="Google Shape;80;p16"/>
          <p:cNvCxnSpPr/>
          <p:nvPr/>
        </p:nvCxnSpPr>
        <p:spPr>
          <a:xfrm>
            <a:off x="589359" y="50231"/>
            <a:ext cx="0" cy="454500"/>
          </a:xfrm>
          <a:prstGeom prst="straightConnector1">
            <a:avLst/>
          </a:prstGeom>
          <a:ln w="1905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  <p:pic>
        <p:nvPicPr>
          <p:cNvPr id="95" name="Google Shape;81;p16"/>
          <p:cNvPicPr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732825" y="3955187"/>
            <a:ext cx="1239726" cy="1753416"/>
          </a:xfrm>
          <a:prstGeom prst="rect">
            <a:avLst/>
          </a:prstGeom>
          <a:ln>
            <a:noFill/>
          </a:ln>
        </p:spPr>
      </p:pic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D6B236AD-7344-733D-C8D4-7FFF4844EC55}"/>
              </a:ext>
            </a:extLst>
          </p:cNvPr>
          <p:cNvSpPr>
            <a:spLocks noGrp="1"/>
          </p:cNvSpPr>
          <p:nvPr/>
        </p:nvSpPr>
        <p:spPr>
          <a:xfrm>
            <a:off x="8829675" y="4838700"/>
            <a:ext cx="257175" cy="281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2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25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3B32CF-B251-58B0-7BAB-AFB6BCFA3973}"/>
              </a:ext>
            </a:extLst>
          </p:cNvPr>
          <p:cNvSpPr>
            <a:spLocks noGrp="1"/>
          </p:cNvSpPr>
          <p:nvPr/>
        </p:nvSpPr>
        <p:spPr>
          <a:xfrm>
            <a:off x="209550" y="4810125"/>
            <a:ext cx="2381250" cy="3657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6350" marR="0"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000000"/>
                </a:solidFill>
                <a:latin typeface="Arial"/>
                <a:ea typeface="Arial"/>
                <a:cs typeface="Arial"/>
              </a:rPr>
              <a:t>Fall 2026</a:t>
            </a:r>
            <a:endParaRPr sz="1400">
              <a:solidFill>
                <a:schemeClr val="dk1"/>
              </a:solidFill>
            </a:endParaRPr>
          </a:p>
        </p:txBody>
      </p:sp>
      <p:sp>
        <p:nvSpPr>
          <p:cNvPr id="86" name="Image commentary">
            <a:extLst>
              <a:ext uri="{FF2B5EF4-FFF2-40B4-BE49-F238E27FC236}">
                <a16:creationId xmlns:a16="http://schemas.microsoft.com/office/drawing/2014/main" id="{344320F0-F0A9-4293-B214-A90B977DB207}"/>
              </a:ext>
            </a:extLst>
          </p:cNvPr>
          <p:cNvSpPr>
            <a:spLocks noGrp="1"/>
          </p:cNvSpPr>
          <p:nvPr/>
        </p:nvSpPr>
        <p:spPr>
          <a:xfrm>
            <a:off x="714375" y="1619250"/>
            <a:ext cx="3162300" cy="2619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50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Kickoff held Sep 12 — scope: club homepage, CAD/scientific-figure pipeline, interactive plasma viewer</a:t>
            </a:r>
          </a:p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50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Builds on Spring 2026 foundation: particle-visualization prototype, Gott &amp; Xu microplasma cathode physics</a:t>
            </a:r>
          </a:p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50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New this semester: a research-grade paper on our visualization work</a:t>
            </a:r>
          </a:p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50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This week we move from planning into execution — data/geometry audit and environment setup</a:t>
            </a:r>
          </a:p>
        </p:txBody>
      </p:sp>
      <p:pic>
        <p:nvPicPr>
          <p:cNvPr id="99" name="Picture 98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191000" y="1897742"/>
            <a:ext cx="4267200" cy="215764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4" name="Google Shape;74;p16">
            <a:extLst>
              <a:ext uri="{FF2B5EF4-FFF2-40B4-BE49-F238E27FC236}">
                <a16:creationId xmlns:a16="http://schemas.microsoft.com/office/drawing/2014/main" id="{F29C6079-CF50-3950-F7B3-37C5016CD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828675"/>
            <a:ext cx="795337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Where we are in the workflow</a:t>
            </a:r>
            <a:endParaRPr/>
          </a:p>
        </p:txBody>
      </p:sp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C50CF39B-81F0-A7BF-E4FB-18A3BA818FA8}"/>
              </a:ext>
            </a:extLst>
          </p:cNvPr>
          <p:cNvSpPr>
            <a:spLocks noGrp="1"/>
          </p:cNvSpPr>
          <p:nvPr/>
        </p:nvSpPr>
        <p:spPr>
          <a:xfrm>
            <a:off x="0" y="-4697"/>
            <a:ext cx="9144000" cy="580200"/>
          </a:xfrm>
          <a:prstGeom prst="rect">
            <a:avLst/>
          </a:prstGeom>
          <a:solidFill>
            <a:srgbClr val="11284C"/>
          </a:solidFill>
          <a:ln>
            <a:noFill/>
          </a:ln>
        </p:spPr>
        <p:txBody>
          <a:bodyPr spcFirstLastPara="1" wrap="square" lIns="68575" tIns="34275" rIns="68575" bIns="34275" anchor="ctr">
            <a:no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E003ECB4-68A0-AF72-FDFD-EB7C2DD32890}"/>
              </a:ext>
            </a:extLst>
          </p:cNvPr>
          <p:cNvSpPr>
            <a:spLocks noGrp="1"/>
          </p:cNvSpPr>
          <p:nvPr/>
        </p:nvSpPr>
        <p:spPr>
          <a:xfrm>
            <a:off x="6349014" y="50217"/>
            <a:ext cx="27390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>
            <a:sp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rPr>
              <a:t>Electric Propulsion Initiative - ION-I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1" name="Google Shape;78;p16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1161" y="50231"/>
            <a:ext cx="326328" cy="470421"/>
          </a:xfrm>
          <a:prstGeom prst="rect">
            <a:avLst/>
          </a:prstGeom>
          <a:ln>
            <a:noFill/>
          </a:ln>
        </p:spPr>
      </p:pic>
      <p:pic>
        <p:nvPicPr>
          <p:cNvPr id="92" name="Google Shape;79;p16"/>
          <p:cNvPicPr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" y="-103200"/>
            <a:ext cx="533165" cy="754089"/>
          </a:xfrm>
          <a:prstGeom prst="rect">
            <a:avLst/>
          </a:prstGeom>
          <a:ln>
            <a:noFill/>
          </a:ln>
        </p:spPr>
      </p:pic>
      <p:cxnSp>
        <p:nvCxnSpPr>
          <p:cNvPr id="93" name="Google Shape;80;p16"/>
          <p:cNvCxnSpPr/>
          <p:nvPr/>
        </p:nvCxnSpPr>
        <p:spPr>
          <a:xfrm>
            <a:off x="589359" y="50231"/>
            <a:ext cx="0" cy="454500"/>
          </a:xfrm>
          <a:prstGeom prst="straightConnector1">
            <a:avLst/>
          </a:prstGeom>
          <a:ln w="1905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  <p:pic>
        <p:nvPicPr>
          <p:cNvPr id="94" name="Google Shape;81;p16"/>
          <p:cNvPicPr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32825" y="3955187"/>
            <a:ext cx="1239726" cy="1753416"/>
          </a:xfrm>
          <a:prstGeom prst="rect">
            <a:avLst/>
          </a:prstGeom>
          <a:ln>
            <a:noFill/>
          </a:ln>
        </p:spPr>
      </p:pic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D6B236AD-7344-733D-C8D4-7FFF4844EC55}"/>
              </a:ext>
            </a:extLst>
          </p:cNvPr>
          <p:cNvSpPr>
            <a:spLocks noGrp="1"/>
          </p:cNvSpPr>
          <p:nvPr/>
        </p:nvSpPr>
        <p:spPr>
          <a:xfrm>
            <a:off x="8829675" y="4838700"/>
            <a:ext cx="257175" cy="281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2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25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3B32CF-B251-58B0-7BAB-AFB6BCFA3973}"/>
              </a:ext>
            </a:extLst>
          </p:cNvPr>
          <p:cNvSpPr>
            <a:spLocks noGrp="1"/>
          </p:cNvSpPr>
          <p:nvPr/>
        </p:nvSpPr>
        <p:spPr>
          <a:xfrm>
            <a:off x="209550" y="4810125"/>
            <a:ext cx="2381250" cy="3657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6350" marR="0"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000000"/>
                </a:solidFill>
                <a:latin typeface="Arial"/>
                <a:ea typeface="Arial"/>
                <a:cs typeface="Arial"/>
              </a:rPr>
              <a:t>Fall 2026</a:t>
            </a:r>
            <a:endParaRPr sz="1400">
              <a:solidFill>
                <a:schemeClr val="dk1"/>
              </a:solidFill>
            </a:endParaRPr>
          </a:p>
        </p:txBody>
      </p:sp>
      <p:graphicFrame>
        <p:nvGraphicFramePr>
          <p:cNvPr id="97" name="Table 96"/>
          <p:cNvGraphicFramePr/>
          <p:nvPr/>
        </p:nvGraphicFramePr>
        <p:xfrm>
          <a:off x="714375" y="1619250"/>
          <a:ext cx="7734300" cy="2705100"/>
        </p:xfrm>
        <a:graphic>
          <a:graphicData uri="http://schemas.openxmlformats.org/drawingml/2006/table">
            <a:tbl>
              <a:tblPr/>
              <a:tblGrid>
                <a:gridCol w="2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72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762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1284C"/>
                          </a:solidFill>
                          <a:latin typeface="Arial"/>
                          <a:ea typeface="Arial"/>
                          <a:cs typeface="Arial"/>
                        </a:rPr>
                        <a:t>1  Data &amp; geometry ← this week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04040"/>
                          </a:solidFill>
                          <a:latin typeface="Arial"/>
                          <a:ea typeface="Arial"/>
                          <a:cs typeface="Arial"/>
                        </a:rPr>
                        <a:t>Review source data, prepare geometry for visualization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62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1284C"/>
                          </a:solidFill>
                          <a:latin typeface="Arial"/>
                          <a:ea typeface="Arial"/>
                          <a:cs typeface="Arial"/>
                        </a:rPr>
                        <a:t>2  Homepage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04040"/>
                          </a:solidFill>
                          <a:latin typeface="Arial"/>
                          <a:ea typeface="Arial"/>
                          <a:cs typeface="Arial"/>
                        </a:rPr>
                        <a:t>Publish the club overview and technical project pages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62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1284C"/>
                          </a:solidFill>
                          <a:latin typeface="Arial"/>
                          <a:ea typeface="Arial"/>
                          <a:cs typeface="Arial"/>
                        </a:rPr>
                        <a:t>3  CAD and figures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04040"/>
                          </a:solidFill>
                          <a:latin typeface="Arial"/>
                          <a:ea typeface="Arial"/>
                          <a:cs typeface="Arial"/>
                        </a:rPr>
                        <a:t>Build a simplified cathode assembly and cutaway renders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2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1284C"/>
                          </a:solidFill>
                          <a:latin typeface="Arial"/>
                          <a:ea typeface="Arial"/>
                          <a:cs typeface="Arial"/>
                        </a:rPr>
                        <a:t>4  Integration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04040"/>
                          </a:solidFill>
                          <a:latin typeface="Arial"/>
                          <a:ea typeface="Arial"/>
                          <a:cs typeface="Arial"/>
                        </a:rPr>
                        <a:t>Connect the viewer and publish documented figure examples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7" name="Slide footnote">
            <a:extLst>
              <a:ext uri="{FF2B5EF4-FFF2-40B4-BE49-F238E27FC236}">
                <a16:creationId xmlns:a16="http://schemas.microsoft.com/office/drawing/2014/main" id="{4E10962B-21A8-4B0E-BFDB-C33BB70D557E}"/>
              </a:ext>
            </a:extLst>
          </p:cNvPr>
          <p:cNvSpPr>
            <a:spLocks noGrp="1"/>
          </p:cNvSpPr>
          <p:nvPr/>
        </p:nvSpPr>
        <p:spPr>
          <a:xfrm>
            <a:off x="714375" y="4505325"/>
            <a:ext cx="70104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125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125" b="0" dirty="0">
                <a:solidFill>
                  <a:srgbClr val="666666"/>
                </a:solidFill>
                <a:latin typeface="Arial"/>
                <a:ea typeface="Arial"/>
                <a:cs typeface="Arial"/>
              </a:rPr>
              <a:t>Target: club homepage, a plasma viewer, a reproducible figure workflow — plus a paper alongside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4" name="Google Shape;74;p16">
            <a:extLst>
              <a:ext uri="{FF2B5EF4-FFF2-40B4-BE49-F238E27FC236}">
                <a16:creationId xmlns:a16="http://schemas.microsoft.com/office/drawing/2014/main" id="{F29C6079-CF50-3950-F7B3-37C5016CD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828675"/>
            <a:ext cx="795337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week: data &amp; geometry</a:t>
            </a:r>
            <a:endParaRPr/>
          </a:p>
        </p:txBody>
      </p:sp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C50CF39B-81F0-A7BF-E4FB-18A3BA818FA8}"/>
              </a:ext>
            </a:extLst>
          </p:cNvPr>
          <p:cNvSpPr>
            <a:spLocks noGrp="1"/>
          </p:cNvSpPr>
          <p:nvPr/>
        </p:nvSpPr>
        <p:spPr>
          <a:xfrm>
            <a:off x="0" y="-4697"/>
            <a:ext cx="9144000" cy="580200"/>
          </a:xfrm>
          <a:prstGeom prst="rect">
            <a:avLst/>
          </a:prstGeom>
          <a:solidFill>
            <a:srgbClr val="11284C"/>
          </a:solidFill>
          <a:ln>
            <a:noFill/>
          </a:ln>
        </p:spPr>
        <p:txBody>
          <a:bodyPr spcFirstLastPara="1" wrap="square" lIns="68575" tIns="34275" rIns="68575" bIns="34275" anchor="ctr">
            <a:no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E003ECB4-68A0-AF72-FDFD-EB7C2DD32890}"/>
              </a:ext>
            </a:extLst>
          </p:cNvPr>
          <p:cNvSpPr>
            <a:spLocks noGrp="1"/>
          </p:cNvSpPr>
          <p:nvPr/>
        </p:nvSpPr>
        <p:spPr>
          <a:xfrm>
            <a:off x="6349014" y="50217"/>
            <a:ext cx="27390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>
            <a:sp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rPr>
              <a:t>Electric Propulsion Initiative - ION-I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2" name="Google Shape;78;p16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1161" y="50231"/>
            <a:ext cx="326328" cy="470421"/>
          </a:xfrm>
          <a:prstGeom prst="rect">
            <a:avLst/>
          </a:prstGeom>
          <a:ln>
            <a:noFill/>
          </a:ln>
        </p:spPr>
      </p:pic>
      <p:pic>
        <p:nvPicPr>
          <p:cNvPr id="93" name="Google Shape;79;p16"/>
          <p:cNvPicPr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" y="-103200"/>
            <a:ext cx="533165" cy="754089"/>
          </a:xfrm>
          <a:prstGeom prst="rect">
            <a:avLst/>
          </a:prstGeom>
          <a:ln>
            <a:noFill/>
          </a:ln>
        </p:spPr>
      </p:pic>
      <p:cxnSp>
        <p:nvCxnSpPr>
          <p:cNvPr id="94" name="Google Shape;80;p16"/>
          <p:cNvCxnSpPr/>
          <p:nvPr/>
        </p:nvCxnSpPr>
        <p:spPr>
          <a:xfrm>
            <a:off x="589359" y="50231"/>
            <a:ext cx="0" cy="454500"/>
          </a:xfrm>
          <a:prstGeom prst="straightConnector1">
            <a:avLst/>
          </a:prstGeom>
          <a:ln w="1905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  <p:pic>
        <p:nvPicPr>
          <p:cNvPr id="95" name="Google Shape;81;p16"/>
          <p:cNvPicPr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32825" y="3955187"/>
            <a:ext cx="1239726" cy="1753416"/>
          </a:xfrm>
          <a:prstGeom prst="rect">
            <a:avLst/>
          </a:prstGeom>
          <a:ln>
            <a:noFill/>
          </a:ln>
        </p:spPr>
      </p:pic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D6B236AD-7344-733D-C8D4-7FFF4844EC55}"/>
              </a:ext>
            </a:extLst>
          </p:cNvPr>
          <p:cNvSpPr>
            <a:spLocks noGrp="1"/>
          </p:cNvSpPr>
          <p:nvPr/>
        </p:nvSpPr>
        <p:spPr>
          <a:xfrm>
            <a:off x="8829675" y="4838700"/>
            <a:ext cx="257175" cy="281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2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25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3B32CF-B251-58B0-7BAB-AFB6BCFA3973}"/>
              </a:ext>
            </a:extLst>
          </p:cNvPr>
          <p:cNvSpPr>
            <a:spLocks noGrp="1"/>
          </p:cNvSpPr>
          <p:nvPr/>
        </p:nvSpPr>
        <p:spPr>
          <a:xfrm>
            <a:off x="209550" y="4810125"/>
            <a:ext cx="2381250" cy="3657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6350" marR="0"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000000"/>
                </a:solidFill>
                <a:latin typeface="Arial"/>
                <a:ea typeface="Arial"/>
                <a:cs typeface="Arial"/>
              </a:rPr>
              <a:t>Fall 2026</a:t>
            </a:r>
            <a:endParaRPr sz="1400">
              <a:solidFill>
                <a:schemeClr val="dk1"/>
              </a:solidFill>
            </a:endParaRPr>
          </a:p>
        </p:txBody>
      </p:sp>
      <p:sp>
        <p:nvSpPr>
          <p:cNvPr id="86" name="Slide introduction">
            <a:extLst>
              <a:ext uri="{FF2B5EF4-FFF2-40B4-BE49-F238E27FC236}">
                <a16:creationId xmlns:a16="http://schemas.microsoft.com/office/drawing/2014/main" id="{B8F1483B-FB4D-492E-94FB-23C7526FDDD6}"/>
              </a:ext>
            </a:extLst>
          </p:cNvPr>
          <p:cNvSpPr>
            <a:spLocks noGrp="1"/>
          </p:cNvSpPr>
          <p:nvPr/>
        </p:nvSpPr>
        <p:spPr>
          <a:xfrm>
            <a:off x="714375" y="1438275"/>
            <a:ext cx="77343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Data &amp; geometry</a:t>
            </a:r>
          </a:p>
        </p:txBody>
      </p:sp>
      <p:sp>
        <p:nvSpPr>
          <p:cNvPr id="87" name="Main bullets">
            <a:extLst>
              <a:ext uri="{FF2B5EF4-FFF2-40B4-BE49-F238E27FC236}">
                <a16:creationId xmlns:a16="http://schemas.microsoft.com/office/drawing/2014/main" id="{211AE939-D7DF-44D9-A71C-20127A8F71E3}"/>
              </a:ext>
            </a:extLst>
          </p:cNvPr>
          <p:cNvSpPr>
            <a:spLocks noGrp="1"/>
          </p:cNvSpPr>
          <p:nvPr/>
        </p:nvSpPr>
        <p:spPr>
          <a:xfrm>
            <a:off x="714375" y="1971675"/>
            <a:ext cx="7734300" cy="2905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80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Audit shared particle datasets and Gott &amp; Xu cathode geometry</a:t>
            </a:r>
          </a:p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80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Define the engineering-geometry / field-data input format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4" name="Google Shape;74;p16">
            <a:extLst>
              <a:ext uri="{FF2B5EF4-FFF2-40B4-BE49-F238E27FC236}">
                <a16:creationId xmlns:a16="http://schemas.microsoft.com/office/drawing/2014/main" id="{F29C6079-CF50-3950-F7B3-37C5016CD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828675"/>
            <a:ext cx="795337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week: rendering environment</a:t>
            </a:r>
            <a:endParaRPr/>
          </a:p>
        </p:txBody>
      </p:sp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C50CF39B-81F0-A7BF-E4FB-18A3BA818FA8}"/>
              </a:ext>
            </a:extLst>
          </p:cNvPr>
          <p:cNvSpPr>
            <a:spLocks noGrp="1"/>
          </p:cNvSpPr>
          <p:nvPr/>
        </p:nvSpPr>
        <p:spPr>
          <a:xfrm>
            <a:off x="0" y="-4697"/>
            <a:ext cx="9144000" cy="580200"/>
          </a:xfrm>
          <a:prstGeom prst="rect">
            <a:avLst/>
          </a:prstGeom>
          <a:solidFill>
            <a:srgbClr val="11284C"/>
          </a:solidFill>
          <a:ln>
            <a:noFill/>
          </a:ln>
        </p:spPr>
        <p:txBody>
          <a:bodyPr spcFirstLastPara="1" wrap="square" lIns="68575" tIns="34275" rIns="68575" bIns="34275" anchor="ctr">
            <a:no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E003ECB4-68A0-AF72-FDFD-EB7C2DD32890}"/>
              </a:ext>
            </a:extLst>
          </p:cNvPr>
          <p:cNvSpPr>
            <a:spLocks noGrp="1"/>
          </p:cNvSpPr>
          <p:nvPr/>
        </p:nvSpPr>
        <p:spPr>
          <a:xfrm>
            <a:off x="6349014" y="50217"/>
            <a:ext cx="27390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>
            <a:sp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rPr>
              <a:t>Electric Propulsion Initiative - ION-I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2" name="Google Shape;78;p16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1161" y="50231"/>
            <a:ext cx="326328" cy="470421"/>
          </a:xfrm>
          <a:prstGeom prst="rect">
            <a:avLst/>
          </a:prstGeom>
          <a:ln>
            <a:noFill/>
          </a:ln>
        </p:spPr>
      </p:pic>
      <p:pic>
        <p:nvPicPr>
          <p:cNvPr id="93" name="Google Shape;79;p16"/>
          <p:cNvPicPr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" y="-103200"/>
            <a:ext cx="533165" cy="754089"/>
          </a:xfrm>
          <a:prstGeom prst="rect">
            <a:avLst/>
          </a:prstGeom>
          <a:ln>
            <a:noFill/>
          </a:ln>
        </p:spPr>
      </p:pic>
      <p:cxnSp>
        <p:nvCxnSpPr>
          <p:cNvPr id="94" name="Google Shape;80;p16"/>
          <p:cNvCxnSpPr/>
          <p:nvPr/>
        </p:nvCxnSpPr>
        <p:spPr>
          <a:xfrm>
            <a:off x="589359" y="50231"/>
            <a:ext cx="0" cy="454500"/>
          </a:xfrm>
          <a:prstGeom prst="straightConnector1">
            <a:avLst/>
          </a:prstGeom>
          <a:ln w="1905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  <p:pic>
        <p:nvPicPr>
          <p:cNvPr id="95" name="Google Shape;81;p16"/>
          <p:cNvPicPr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32825" y="3955187"/>
            <a:ext cx="1239726" cy="1753416"/>
          </a:xfrm>
          <a:prstGeom prst="rect">
            <a:avLst/>
          </a:prstGeom>
          <a:ln>
            <a:noFill/>
          </a:ln>
        </p:spPr>
      </p:pic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D6B236AD-7344-733D-C8D4-7FFF4844EC55}"/>
              </a:ext>
            </a:extLst>
          </p:cNvPr>
          <p:cNvSpPr>
            <a:spLocks noGrp="1"/>
          </p:cNvSpPr>
          <p:nvPr/>
        </p:nvSpPr>
        <p:spPr>
          <a:xfrm>
            <a:off x="8829675" y="4838700"/>
            <a:ext cx="257175" cy="281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2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25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3B32CF-B251-58B0-7BAB-AFB6BCFA3973}"/>
              </a:ext>
            </a:extLst>
          </p:cNvPr>
          <p:cNvSpPr>
            <a:spLocks noGrp="1"/>
          </p:cNvSpPr>
          <p:nvPr/>
        </p:nvSpPr>
        <p:spPr>
          <a:xfrm>
            <a:off x="209550" y="4810125"/>
            <a:ext cx="2381250" cy="3657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6350" marR="0"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000000"/>
                </a:solidFill>
                <a:latin typeface="Arial"/>
                <a:ea typeface="Arial"/>
                <a:cs typeface="Arial"/>
              </a:rPr>
              <a:t>Fall 2026</a:t>
            </a:r>
            <a:endParaRPr sz="1400">
              <a:solidFill>
                <a:schemeClr val="dk1"/>
              </a:solidFill>
            </a:endParaRPr>
          </a:p>
        </p:txBody>
      </p:sp>
      <p:sp>
        <p:nvSpPr>
          <p:cNvPr id="86" name="Slide introduction">
            <a:extLst>
              <a:ext uri="{FF2B5EF4-FFF2-40B4-BE49-F238E27FC236}">
                <a16:creationId xmlns:a16="http://schemas.microsoft.com/office/drawing/2014/main" id="{B8F1483B-FB4D-492E-94FB-23C7526FDDD6}"/>
              </a:ext>
            </a:extLst>
          </p:cNvPr>
          <p:cNvSpPr>
            <a:spLocks noGrp="1"/>
          </p:cNvSpPr>
          <p:nvPr/>
        </p:nvSpPr>
        <p:spPr>
          <a:xfrm>
            <a:off x="714375" y="1438275"/>
            <a:ext cx="77343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Rendering environment</a:t>
            </a:r>
          </a:p>
        </p:txBody>
      </p:sp>
      <p:sp>
        <p:nvSpPr>
          <p:cNvPr id="87" name="Main bullets">
            <a:extLst>
              <a:ext uri="{FF2B5EF4-FFF2-40B4-BE49-F238E27FC236}">
                <a16:creationId xmlns:a16="http://schemas.microsoft.com/office/drawing/2014/main" id="{211AE939-D7DF-44D9-A71C-20127A8F71E3}"/>
              </a:ext>
            </a:extLst>
          </p:cNvPr>
          <p:cNvSpPr>
            <a:spLocks noGrp="1"/>
          </p:cNvSpPr>
          <p:nvPr/>
        </p:nvSpPr>
        <p:spPr>
          <a:xfrm>
            <a:off x="714375" y="1971675"/>
            <a:ext cx="7734300" cy="2905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80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Stand up PyVista / VTK / Trame in this repo</a:t>
            </a:r>
          </a:p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80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Wire it to the shared dataset from the plasma-visualization repo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4" name="Google Shape;74;p16">
            <a:extLst>
              <a:ext uri="{FF2B5EF4-FFF2-40B4-BE49-F238E27FC236}">
                <a16:creationId xmlns:a16="http://schemas.microsoft.com/office/drawing/2014/main" id="{F29C6079-CF50-3950-F7B3-37C5016CD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828675"/>
            <a:ext cx="795337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Coordinating with the main ION-I club</a:t>
            </a:r>
            <a:endParaRPr/>
          </a:p>
        </p:txBody>
      </p:sp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C50CF39B-81F0-A7BF-E4FB-18A3BA818FA8}"/>
              </a:ext>
            </a:extLst>
          </p:cNvPr>
          <p:cNvSpPr>
            <a:spLocks noGrp="1"/>
          </p:cNvSpPr>
          <p:nvPr/>
        </p:nvSpPr>
        <p:spPr>
          <a:xfrm>
            <a:off x="0" y="-4697"/>
            <a:ext cx="9144000" cy="580200"/>
          </a:xfrm>
          <a:prstGeom prst="rect">
            <a:avLst/>
          </a:prstGeom>
          <a:solidFill>
            <a:srgbClr val="11284C"/>
          </a:solidFill>
          <a:ln>
            <a:noFill/>
          </a:ln>
        </p:spPr>
        <p:txBody>
          <a:bodyPr spcFirstLastPara="1" wrap="square" lIns="68575" tIns="34275" rIns="68575" bIns="34275" anchor="ctr">
            <a:no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E003ECB4-68A0-AF72-FDFD-EB7C2DD32890}"/>
              </a:ext>
            </a:extLst>
          </p:cNvPr>
          <p:cNvSpPr>
            <a:spLocks noGrp="1"/>
          </p:cNvSpPr>
          <p:nvPr/>
        </p:nvSpPr>
        <p:spPr>
          <a:xfrm>
            <a:off x="6349014" y="50217"/>
            <a:ext cx="27390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>
            <a:sp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rPr>
              <a:t>Electric Propulsion Initiative - ION-I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4" name="Google Shape;78;p16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1161" y="50231"/>
            <a:ext cx="326328" cy="470421"/>
          </a:xfrm>
          <a:prstGeom prst="rect">
            <a:avLst/>
          </a:prstGeom>
          <a:ln>
            <a:noFill/>
          </a:ln>
        </p:spPr>
      </p:pic>
      <p:pic>
        <p:nvPicPr>
          <p:cNvPr id="95" name="Google Shape;79;p16"/>
          <p:cNvPicPr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" y="-103200"/>
            <a:ext cx="533165" cy="754089"/>
          </a:xfrm>
          <a:prstGeom prst="rect">
            <a:avLst/>
          </a:prstGeom>
          <a:ln>
            <a:noFill/>
          </a:ln>
        </p:spPr>
      </p:pic>
      <p:cxnSp>
        <p:nvCxnSpPr>
          <p:cNvPr id="96" name="Google Shape;80;p16"/>
          <p:cNvCxnSpPr/>
          <p:nvPr/>
        </p:nvCxnSpPr>
        <p:spPr>
          <a:xfrm>
            <a:off x="589359" y="50231"/>
            <a:ext cx="0" cy="454500"/>
          </a:xfrm>
          <a:prstGeom prst="straightConnector1">
            <a:avLst/>
          </a:prstGeom>
          <a:ln w="1905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  <p:pic>
        <p:nvPicPr>
          <p:cNvPr id="97" name="Google Shape;81;p16"/>
          <p:cNvPicPr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32825" y="3955187"/>
            <a:ext cx="1239726" cy="1753416"/>
          </a:xfrm>
          <a:prstGeom prst="rect">
            <a:avLst/>
          </a:prstGeom>
          <a:ln>
            <a:noFill/>
          </a:ln>
        </p:spPr>
      </p:pic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D6B236AD-7344-733D-C8D4-7FFF4844EC55}"/>
              </a:ext>
            </a:extLst>
          </p:cNvPr>
          <p:cNvSpPr>
            <a:spLocks noGrp="1"/>
          </p:cNvSpPr>
          <p:nvPr/>
        </p:nvSpPr>
        <p:spPr>
          <a:xfrm>
            <a:off x="8829675" y="4838700"/>
            <a:ext cx="257175" cy="495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2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25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3B32CF-B251-58B0-7BAB-AFB6BCFA3973}"/>
              </a:ext>
            </a:extLst>
          </p:cNvPr>
          <p:cNvSpPr>
            <a:spLocks noGrp="1"/>
          </p:cNvSpPr>
          <p:nvPr/>
        </p:nvSpPr>
        <p:spPr>
          <a:xfrm>
            <a:off x="209550" y="4810125"/>
            <a:ext cx="2381250" cy="3657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6350" marR="0"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000000"/>
                </a:solidFill>
                <a:latin typeface="Arial"/>
                <a:ea typeface="Arial"/>
                <a:cs typeface="Arial"/>
              </a:rPr>
              <a:t>Fall 2026</a:t>
            </a:r>
            <a:endParaRPr sz="1400">
              <a:solidFill>
                <a:schemeClr val="dk1"/>
              </a:solidFill>
            </a:endParaRPr>
          </a:p>
        </p:txBody>
      </p:sp>
      <p:sp>
        <p:nvSpPr>
          <p:cNvPr id="86" name="Column 1 heading">
            <a:extLst>
              <a:ext uri="{FF2B5EF4-FFF2-40B4-BE49-F238E27FC236}">
                <a16:creationId xmlns:a16="http://schemas.microsoft.com/office/drawing/2014/main" id="{2DE9F095-B1B7-4694-A4EB-65BCA882CC18}"/>
              </a:ext>
            </a:extLst>
          </p:cNvPr>
          <p:cNvSpPr>
            <a:spLocks noGrp="1"/>
          </p:cNvSpPr>
          <p:nvPr/>
        </p:nvSpPr>
        <p:spPr>
          <a:xfrm>
            <a:off x="714375" y="1619250"/>
            <a:ext cx="3686175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11284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284C"/>
                </a:solidFill>
                <a:latin typeface="Arial"/>
                <a:ea typeface="Arial"/>
                <a:cs typeface="Arial"/>
              </a:rPr>
              <a:t>How we stay in sync</a:t>
            </a:r>
          </a:p>
        </p:txBody>
      </p:sp>
      <p:sp>
        <p:nvSpPr>
          <p:cNvPr id="87" name="Column 1 body">
            <a:extLst>
              <a:ext uri="{FF2B5EF4-FFF2-40B4-BE49-F238E27FC236}">
                <a16:creationId xmlns:a16="http://schemas.microsoft.com/office/drawing/2014/main" id="{BB69C427-3E75-49FD-B0A1-7642A355F868}"/>
              </a:ext>
            </a:extLst>
          </p:cNvPr>
          <p:cNvSpPr>
            <a:spLocks noGrp="1"/>
          </p:cNvSpPr>
          <p:nvPr/>
        </p:nvSpPr>
        <p:spPr>
          <a:xfrm>
            <a:off x="714375" y="2066925"/>
            <a:ext cx="3686175" cy="2428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65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Check in with the main club on CAD/analysis timelines</a:t>
            </a:r>
          </a:p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65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Adjust this plan as their deliverables land</a:t>
            </a:r>
          </a:p>
        </p:txBody>
      </p:sp>
      <p:sp>
        <p:nvSpPr>
          <p:cNvPr id="88" name="Column 2 heading">
            <a:extLst>
              <a:ext uri="{FF2B5EF4-FFF2-40B4-BE49-F238E27FC236}">
                <a16:creationId xmlns:a16="http://schemas.microsoft.com/office/drawing/2014/main" id="{CC567F5E-3CF7-498C-B1F7-936F2B5ECBC9}"/>
              </a:ext>
            </a:extLst>
          </p:cNvPr>
          <p:cNvSpPr>
            <a:spLocks noGrp="1"/>
          </p:cNvSpPr>
          <p:nvPr/>
        </p:nvSpPr>
        <p:spPr>
          <a:xfrm>
            <a:off x="4762500" y="1619250"/>
            <a:ext cx="3686175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11284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284C"/>
                </a:solidFill>
                <a:latin typeface="Arial"/>
                <a:ea typeface="Arial"/>
                <a:cs typeface="Arial"/>
              </a:rPr>
              <a:t>Early cross-team scope</a:t>
            </a:r>
          </a:p>
        </p:txBody>
      </p:sp>
      <p:sp>
        <p:nvSpPr>
          <p:cNvPr id="89" name="Column 2 body">
            <a:extLst>
              <a:ext uri="{FF2B5EF4-FFF2-40B4-BE49-F238E27FC236}">
                <a16:creationId xmlns:a16="http://schemas.microsoft.com/office/drawing/2014/main" id="{097F249D-5356-46EB-8DC4-2E57F868A9BB}"/>
              </a:ext>
            </a:extLst>
          </p:cNvPr>
          <p:cNvSpPr>
            <a:spLocks noGrp="1"/>
          </p:cNvSpPr>
          <p:nvPr/>
        </p:nvSpPr>
        <p:spPr>
          <a:xfrm>
            <a:off x="4762500" y="2066925"/>
            <a:ext cx="3686175" cy="2428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65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Discharge Chamber: magnet geometry, field maps (later)</a:t>
            </a:r>
          </a:p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65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Ion Optics: grid geometry, ion trajectories (later)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4" name="Google Shape;74;p16">
            <a:extLst>
              <a:ext uri="{FF2B5EF4-FFF2-40B4-BE49-F238E27FC236}">
                <a16:creationId xmlns:a16="http://schemas.microsoft.com/office/drawing/2014/main" id="{F29C6079-CF50-3950-F7B3-37C5016CD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828675"/>
            <a:ext cx="795337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Paper track</a:t>
            </a:r>
            <a:endParaRPr/>
          </a:p>
        </p:txBody>
      </p:sp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C50CF39B-81F0-A7BF-E4FB-18A3BA818FA8}"/>
              </a:ext>
            </a:extLst>
          </p:cNvPr>
          <p:cNvSpPr>
            <a:spLocks noGrp="1"/>
          </p:cNvSpPr>
          <p:nvPr/>
        </p:nvSpPr>
        <p:spPr>
          <a:xfrm>
            <a:off x="0" y="-4697"/>
            <a:ext cx="9144000" cy="580200"/>
          </a:xfrm>
          <a:prstGeom prst="rect">
            <a:avLst/>
          </a:prstGeom>
          <a:solidFill>
            <a:srgbClr val="11284C"/>
          </a:solidFill>
          <a:ln>
            <a:noFill/>
          </a:ln>
        </p:spPr>
        <p:txBody>
          <a:bodyPr spcFirstLastPara="1" wrap="square" lIns="68575" tIns="34275" rIns="68575" bIns="34275" anchor="ctr">
            <a:no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E003ECB4-68A0-AF72-FDFD-EB7C2DD32890}"/>
              </a:ext>
            </a:extLst>
          </p:cNvPr>
          <p:cNvSpPr>
            <a:spLocks noGrp="1"/>
          </p:cNvSpPr>
          <p:nvPr/>
        </p:nvSpPr>
        <p:spPr>
          <a:xfrm>
            <a:off x="6349014" y="50217"/>
            <a:ext cx="27390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>
            <a:sp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rPr>
              <a:t>Electric Propulsion Initiative - ION-I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2" name="Google Shape;78;p16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1161" y="50231"/>
            <a:ext cx="326328" cy="470421"/>
          </a:xfrm>
          <a:prstGeom prst="rect">
            <a:avLst/>
          </a:prstGeom>
          <a:ln>
            <a:noFill/>
          </a:ln>
        </p:spPr>
      </p:pic>
      <p:pic>
        <p:nvPicPr>
          <p:cNvPr id="93" name="Google Shape;79;p16"/>
          <p:cNvPicPr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" y="-103200"/>
            <a:ext cx="533165" cy="754089"/>
          </a:xfrm>
          <a:prstGeom prst="rect">
            <a:avLst/>
          </a:prstGeom>
          <a:ln>
            <a:noFill/>
          </a:ln>
        </p:spPr>
      </p:pic>
      <p:cxnSp>
        <p:nvCxnSpPr>
          <p:cNvPr id="94" name="Google Shape;80;p16"/>
          <p:cNvCxnSpPr/>
          <p:nvPr/>
        </p:nvCxnSpPr>
        <p:spPr>
          <a:xfrm>
            <a:off x="589359" y="50231"/>
            <a:ext cx="0" cy="454500"/>
          </a:xfrm>
          <a:prstGeom prst="straightConnector1">
            <a:avLst/>
          </a:prstGeom>
          <a:ln w="1905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  <p:pic>
        <p:nvPicPr>
          <p:cNvPr id="95" name="Google Shape;81;p16"/>
          <p:cNvPicPr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32825" y="3955187"/>
            <a:ext cx="1239726" cy="1753416"/>
          </a:xfrm>
          <a:prstGeom prst="rect">
            <a:avLst/>
          </a:prstGeom>
          <a:ln>
            <a:noFill/>
          </a:ln>
        </p:spPr>
      </p:pic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D6B236AD-7344-733D-C8D4-7FFF4844EC55}"/>
              </a:ext>
            </a:extLst>
          </p:cNvPr>
          <p:cNvSpPr>
            <a:spLocks noGrp="1"/>
          </p:cNvSpPr>
          <p:nvPr/>
        </p:nvSpPr>
        <p:spPr>
          <a:xfrm>
            <a:off x="8829675" y="4838700"/>
            <a:ext cx="257175" cy="281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2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25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3B32CF-B251-58B0-7BAB-AFB6BCFA3973}"/>
              </a:ext>
            </a:extLst>
          </p:cNvPr>
          <p:cNvSpPr>
            <a:spLocks noGrp="1"/>
          </p:cNvSpPr>
          <p:nvPr/>
        </p:nvSpPr>
        <p:spPr>
          <a:xfrm>
            <a:off x="209550" y="4810125"/>
            <a:ext cx="2381250" cy="3657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6350" marR="0"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000000"/>
                </a:solidFill>
                <a:latin typeface="Arial"/>
                <a:ea typeface="Arial"/>
                <a:cs typeface="Arial"/>
              </a:rPr>
              <a:t>Fall 2026</a:t>
            </a:r>
            <a:endParaRPr sz="1400">
              <a:solidFill>
                <a:schemeClr val="dk1"/>
              </a:solidFill>
            </a:endParaRPr>
          </a:p>
        </p:txBody>
      </p:sp>
      <p:sp>
        <p:nvSpPr>
          <p:cNvPr id="86" name="Slide introduction">
            <a:extLst>
              <a:ext uri="{FF2B5EF4-FFF2-40B4-BE49-F238E27FC236}">
                <a16:creationId xmlns:a16="http://schemas.microsoft.com/office/drawing/2014/main" id="{B8F1483B-FB4D-492E-94FB-23C7526FDDD6}"/>
              </a:ext>
            </a:extLst>
          </p:cNvPr>
          <p:cNvSpPr>
            <a:spLocks noGrp="1"/>
          </p:cNvSpPr>
          <p:nvPr/>
        </p:nvSpPr>
        <p:spPr>
          <a:xfrm>
            <a:off x="714375" y="1438275"/>
            <a:ext cx="77343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Research-grade paper, topic TBD</a:t>
            </a:r>
          </a:p>
        </p:txBody>
      </p:sp>
      <p:sp>
        <p:nvSpPr>
          <p:cNvPr id="87" name="Main bullets">
            <a:extLst>
              <a:ext uri="{FF2B5EF4-FFF2-40B4-BE49-F238E27FC236}">
                <a16:creationId xmlns:a16="http://schemas.microsoft.com/office/drawing/2014/main" id="{211AE939-D7DF-44D9-A71C-20127A8F71E3}"/>
              </a:ext>
            </a:extLst>
          </p:cNvPr>
          <p:cNvSpPr>
            <a:spLocks noGrp="1"/>
          </p:cNvSpPr>
          <p:nvPr/>
        </p:nvSpPr>
        <p:spPr>
          <a:xfrm>
            <a:off x="714375" y="1971675"/>
            <a:ext cx="7734300" cy="2905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80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This week: scope candidate topics against our workstreams, pick one</a:t>
            </a:r>
          </a:p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80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Target venues if ready in time: Engineering Open House (Apr 9–10, 2027), Undergraduate Research Symposium (Apr 28–29, 2027)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4" name="Google Shape;74;p16">
            <a:extLst>
              <a:ext uri="{FF2B5EF4-FFF2-40B4-BE49-F238E27FC236}">
                <a16:creationId xmlns:a16="http://schemas.microsoft.com/office/drawing/2014/main" id="{F29C6079-CF50-3950-F7B3-37C5016CD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828675"/>
            <a:ext cx="795337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Deliverables this week</a:t>
            </a:r>
            <a:endParaRPr/>
          </a:p>
        </p:txBody>
      </p:sp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C50CF39B-81F0-A7BF-E4FB-18A3BA818FA8}"/>
              </a:ext>
            </a:extLst>
          </p:cNvPr>
          <p:cNvSpPr>
            <a:spLocks noGrp="1"/>
          </p:cNvSpPr>
          <p:nvPr/>
        </p:nvSpPr>
        <p:spPr>
          <a:xfrm>
            <a:off x="0" y="-4697"/>
            <a:ext cx="9144000" cy="580200"/>
          </a:xfrm>
          <a:prstGeom prst="rect">
            <a:avLst/>
          </a:prstGeom>
          <a:solidFill>
            <a:srgbClr val="11284C"/>
          </a:solidFill>
          <a:ln>
            <a:noFill/>
          </a:ln>
        </p:spPr>
        <p:txBody>
          <a:bodyPr spcFirstLastPara="1" wrap="square" lIns="68575" tIns="34275" rIns="68575" bIns="34275" anchor="ctr">
            <a:no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E003ECB4-68A0-AF72-FDFD-EB7C2DD32890}"/>
              </a:ext>
            </a:extLst>
          </p:cNvPr>
          <p:cNvSpPr>
            <a:spLocks noGrp="1"/>
          </p:cNvSpPr>
          <p:nvPr/>
        </p:nvSpPr>
        <p:spPr>
          <a:xfrm>
            <a:off x="6349014" y="50217"/>
            <a:ext cx="27390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>
            <a:sp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rPr>
              <a:t>Electric Propulsion Initiative - ION-I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2" name="Google Shape;78;p16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1161" y="50231"/>
            <a:ext cx="326328" cy="470421"/>
          </a:xfrm>
          <a:prstGeom prst="rect">
            <a:avLst/>
          </a:prstGeom>
          <a:ln>
            <a:noFill/>
          </a:ln>
        </p:spPr>
      </p:pic>
      <p:pic>
        <p:nvPicPr>
          <p:cNvPr id="93" name="Google Shape;79;p16"/>
          <p:cNvPicPr>
            <a:picLocks noChangeAspect="1"/>
          </p:cNvPicPr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28650" y="-103200"/>
            <a:ext cx="533165" cy="754089"/>
          </a:xfrm>
          <a:prstGeom prst="rect">
            <a:avLst/>
          </a:prstGeom>
          <a:ln>
            <a:noFill/>
          </a:ln>
        </p:spPr>
      </p:pic>
      <p:cxnSp>
        <p:nvCxnSpPr>
          <p:cNvPr id="94" name="Google Shape;80;p16"/>
          <p:cNvCxnSpPr/>
          <p:nvPr/>
        </p:nvCxnSpPr>
        <p:spPr>
          <a:xfrm>
            <a:off x="589359" y="50231"/>
            <a:ext cx="0" cy="454500"/>
          </a:xfrm>
          <a:prstGeom prst="straightConnector1">
            <a:avLst/>
          </a:prstGeom>
          <a:ln w="1905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  <p:pic>
        <p:nvPicPr>
          <p:cNvPr id="95" name="Google Shape;81;p16"/>
          <p:cNvPicPr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732825" y="3955187"/>
            <a:ext cx="1239726" cy="1753416"/>
          </a:xfrm>
          <a:prstGeom prst="rect">
            <a:avLst/>
          </a:prstGeom>
          <a:ln>
            <a:noFill/>
          </a:ln>
        </p:spPr>
      </p:pic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D6B236AD-7344-733D-C8D4-7FFF4844EC55}"/>
              </a:ext>
            </a:extLst>
          </p:cNvPr>
          <p:cNvSpPr>
            <a:spLocks noGrp="1"/>
          </p:cNvSpPr>
          <p:nvPr/>
        </p:nvSpPr>
        <p:spPr>
          <a:xfrm>
            <a:off x="8829675" y="4838700"/>
            <a:ext cx="257175" cy="281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2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25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3B32CF-B251-58B0-7BAB-AFB6BCFA3973}"/>
              </a:ext>
            </a:extLst>
          </p:cNvPr>
          <p:cNvSpPr>
            <a:spLocks noGrp="1"/>
          </p:cNvSpPr>
          <p:nvPr/>
        </p:nvSpPr>
        <p:spPr>
          <a:xfrm>
            <a:off x="209550" y="4810125"/>
            <a:ext cx="2381250" cy="3657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6350" marR="0"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000000"/>
                </a:solidFill>
                <a:latin typeface="Arial"/>
                <a:ea typeface="Arial"/>
                <a:cs typeface="Arial"/>
              </a:rPr>
              <a:t>Fall 2026</a:t>
            </a:r>
            <a:endParaRPr sz="1400">
              <a:solidFill>
                <a:schemeClr val="dk1"/>
              </a:solidFill>
            </a:endParaRPr>
          </a:p>
        </p:txBody>
      </p:sp>
      <p:sp>
        <p:nvSpPr>
          <p:cNvPr id="86" name="Slide introduction">
            <a:extLst>
              <a:ext uri="{FF2B5EF4-FFF2-40B4-BE49-F238E27FC236}">
                <a16:creationId xmlns:a16="http://schemas.microsoft.com/office/drawing/2014/main" id="{8526F57D-8710-4494-82DA-EB0E0B2C5E2D}"/>
              </a:ext>
            </a:extLst>
          </p:cNvPr>
          <p:cNvSpPr>
            <a:spLocks noGrp="1"/>
          </p:cNvSpPr>
          <p:nvPr/>
        </p:nvSpPr>
        <p:spPr>
          <a:xfrm>
            <a:off x="714375" y="1438275"/>
            <a:ext cx="77343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Data &amp; geometry inventory and import plan</a:t>
            </a:r>
          </a:p>
          <a:p>
            <a:pPr>
              <a:lnSpc>
                <a:spcPct val="108000"/>
              </a:lnSpc>
              <a:buNone/>
              <a:defRPr sz="165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Paper topic selected</a:t>
            </a:r>
          </a:p>
        </p:txBody>
      </p:sp>
      <p:pic>
        <p:nvPicPr>
          <p:cNvPr id="99" name="Picture 98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280114" y="2019300"/>
            <a:ext cx="4602822" cy="24003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4" name="Google Shape;74;p16">
            <a:extLst>
              <a:ext uri="{FF2B5EF4-FFF2-40B4-BE49-F238E27FC236}">
                <a16:creationId xmlns:a16="http://schemas.microsoft.com/office/drawing/2014/main" id="{F29C6079-CF50-3950-F7B3-37C5016CD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828675"/>
            <a:ext cx="795337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Rough team split (4–5 people)</a:t>
            </a:r>
            <a:endParaRPr/>
          </a:p>
        </p:txBody>
      </p:sp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C50CF39B-81F0-A7BF-E4FB-18A3BA818FA8}"/>
              </a:ext>
            </a:extLst>
          </p:cNvPr>
          <p:cNvSpPr>
            <a:spLocks noGrp="1"/>
          </p:cNvSpPr>
          <p:nvPr/>
        </p:nvSpPr>
        <p:spPr>
          <a:xfrm>
            <a:off x="0" y="-4697"/>
            <a:ext cx="9144000" cy="580200"/>
          </a:xfrm>
          <a:prstGeom prst="rect">
            <a:avLst/>
          </a:prstGeom>
          <a:solidFill>
            <a:srgbClr val="11284C"/>
          </a:solidFill>
          <a:ln>
            <a:noFill/>
          </a:ln>
        </p:spPr>
        <p:txBody>
          <a:bodyPr spcFirstLastPara="1" wrap="square" lIns="68575" tIns="34275" rIns="68575" bIns="34275" anchor="ctr">
            <a:no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E003ECB4-68A0-AF72-FDFD-EB7C2DD32890}"/>
              </a:ext>
            </a:extLst>
          </p:cNvPr>
          <p:cNvSpPr>
            <a:spLocks noGrp="1"/>
          </p:cNvSpPr>
          <p:nvPr/>
        </p:nvSpPr>
        <p:spPr>
          <a:xfrm>
            <a:off x="6349014" y="50217"/>
            <a:ext cx="27390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>
            <a:sp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rPr>
              <a:t>Electric Propulsion Initiative - ION-I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1" name="Google Shape;78;p16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1161" y="50231"/>
            <a:ext cx="326328" cy="470421"/>
          </a:xfrm>
          <a:prstGeom prst="rect">
            <a:avLst/>
          </a:prstGeom>
          <a:ln>
            <a:noFill/>
          </a:ln>
        </p:spPr>
      </p:pic>
      <p:pic>
        <p:nvPicPr>
          <p:cNvPr id="92" name="Google Shape;79;p16"/>
          <p:cNvPicPr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" y="-103200"/>
            <a:ext cx="533165" cy="754089"/>
          </a:xfrm>
          <a:prstGeom prst="rect">
            <a:avLst/>
          </a:prstGeom>
          <a:ln>
            <a:noFill/>
          </a:ln>
        </p:spPr>
      </p:pic>
      <p:cxnSp>
        <p:nvCxnSpPr>
          <p:cNvPr id="93" name="Google Shape;80;p16"/>
          <p:cNvCxnSpPr/>
          <p:nvPr/>
        </p:nvCxnSpPr>
        <p:spPr>
          <a:xfrm>
            <a:off x="589359" y="50231"/>
            <a:ext cx="0" cy="454500"/>
          </a:xfrm>
          <a:prstGeom prst="straightConnector1">
            <a:avLst/>
          </a:prstGeom>
          <a:ln w="1905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  <p:pic>
        <p:nvPicPr>
          <p:cNvPr id="94" name="Google Shape;81;p16"/>
          <p:cNvPicPr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32825" y="3955187"/>
            <a:ext cx="1239726" cy="1753416"/>
          </a:xfrm>
          <a:prstGeom prst="rect">
            <a:avLst/>
          </a:prstGeom>
          <a:ln>
            <a:noFill/>
          </a:ln>
        </p:spPr>
      </p:pic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D6B236AD-7344-733D-C8D4-7FFF4844EC55}"/>
              </a:ext>
            </a:extLst>
          </p:cNvPr>
          <p:cNvSpPr>
            <a:spLocks noGrp="1"/>
          </p:cNvSpPr>
          <p:nvPr/>
        </p:nvSpPr>
        <p:spPr>
          <a:xfrm>
            <a:off x="8829675" y="4838700"/>
            <a:ext cx="257175" cy="281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2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25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10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3B32CF-B251-58B0-7BAB-AFB6BCFA3973}"/>
              </a:ext>
            </a:extLst>
          </p:cNvPr>
          <p:cNvSpPr>
            <a:spLocks noGrp="1"/>
          </p:cNvSpPr>
          <p:nvPr/>
        </p:nvSpPr>
        <p:spPr>
          <a:xfrm>
            <a:off x="209550" y="4810125"/>
            <a:ext cx="2381250" cy="3657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6350" marR="0"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000000"/>
                </a:solidFill>
                <a:latin typeface="Arial"/>
                <a:ea typeface="Arial"/>
                <a:cs typeface="Arial"/>
              </a:rPr>
              <a:t>Fall 2026</a:t>
            </a:r>
            <a:endParaRPr sz="1400">
              <a:solidFill>
                <a:schemeClr val="dk1"/>
              </a:solidFill>
            </a:endParaRPr>
          </a:p>
        </p:txBody>
      </p:sp>
      <p:graphicFrame>
        <p:nvGraphicFramePr>
          <p:cNvPr id="97" name="Table 96"/>
          <p:cNvGraphicFramePr/>
          <p:nvPr/>
        </p:nvGraphicFramePr>
        <p:xfrm>
          <a:off x="714375" y="1619250"/>
          <a:ext cx="7734300" cy="2705100"/>
        </p:xfrm>
        <a:graphic>
          <a:graphicData uri="http://schemas.openxmlformats.org/drawingml/2006/table">
            <a:tbl>
              <a:tblPr/>
              <a:tblGrid>
                <a:gridCol w="2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72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762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1284C"/>
                          </a:solidFill>
                          <a:latin typeface="Arial"/>
                          <a:ea typeface="Arial"/>
                          <a:cs typeface="Arial"/>
                        </a:rPr>
                        <a:t>1  Data &amp; geometry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04040"/>
                          </a:solidFill>
                          <a:latin typeface="Arial"/>
                          <a:ea typeface="Arial"/>
                          <a:cs typeface="Arial"/>
                        </a:rPr>
                        <a:t>Audit datasets, cathode geometry, define input format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62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1284C"/>
                          </a:solidFill>
                          <a:latin typeface="Arial"/>
                          <a:ea typeface="Arial"/>
                          <a:cs typeface="Arial"/>
                        </a:rPr>
                        <a:t>2  Rendering env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04040"/>
                          </a:solidFill>
                          <a:latin typeface="Arial"/>
                          <a:ea typeface="Arial"/>
                          <a:cs typeface="Arial"/>
                        </a:rPr>
                        <a:t>Stand up PyVista / VTK / Trame in this repo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62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1284C"/>
                          </a:solidFill>
                          <a:latin typeface="Arial"/>
                          <a:ea typeface="Arial"/>
                          <a:cs typeface="Arial"/>
                        </a:rPr>
                        <a:t>3  Paper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04040"/>
                          </a:solidFill>
                          <a:latin typeface="Arial"/>
                          <a:ea typeface="Arial"/>
                          <a:cs typeface="Arial"/>
                        </a:rPr>
                        <a:t>Scope topic candidates, start related-work scan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2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1284C"/>
                          </a:solidFill>
                          <a:latin typeface="Arial"/>
                          <a:ea typeface="Arial"/>
                          <a:cs typeface="Arial"/>
                        </a:rPr>
                        <a:t>4  Homepage prep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04040"/>
                          </a:solidFill>
                          <a:latin typeface="Arial"/>
                          <a:ea typeface="Arial"/>
                          <a:cs typeface="Arial"/>
                        </a:rPr>
                        <a:t>Sketch scaffolding ahead of Week 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7" name="Slide footnote">
            <a:extLst>
              <a:ext uri="{FF2B5EF4-FFF2-40B4-BE49-F238E27FC236}">
                <a16:creationId xmlns:a16="http://schemas.microsoft.com/office/drawing/2014/main" id="{4E10962B-21A8-4B0E-BFDB-C33BB70D557E}"/>
              </a:ext>
            </a:extLst>
          </p:cNvPr>
          <p:cNvSpPr>
            <a:spLocks noGrp="1"/>
          </p:cNvSpPr>
          <p:nvPr/>
        </p:nvSpPr>
        <p:spPr>
          <a:xfrm>
            <a:off x="714375" y="4505325"/>
            <a:ext cx="70104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125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125" b="0" dirty="0">
                <a:solidFill>
                  <a:srgbClr val="666666"/>
                </a:solidFill>
                <a:latin typeface="Arial"/>
                <a:ea typeface="Arial"/>
                <a:cs typeface="Arial"/>
              </a:rPr>
              <a:t>Loose split — pair up as needed, sync Friday to merge into the repo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4" name="Google Shape;74;p16">
            <a:extLst>
              <a:ext uri="{FF2B5EF4-FFF2-40B4-BE49-F238E27FC236}">
                <a16:creationId xmlns:a16="http://schemas.microsoft.com/office/drawing/2014/main" id="{F29C6079-CF50-3950-F7B3-37C5016CD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828675"/>
            <a:ext cx="795337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Working together</a:t>
            </a:r>
            <a:endParaRPr/>
          </a:p>
        </p:txBody>
      </p:sp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C50CF39B-81F0-A7BF-E4FB-18A3BA818FA8}"/>
              </a:ext>
            </a:extLst>
          </p:cNvPr>
          <p:cNvSpPr>
            <a:spLocks noGrp="1"/>
          </p:cNvSpPr>
          <p:nvPr/>
        </p:nvSpPr>
        <p:spPr>
          <a:xfrm>
            <a:off x="0" y="-4697"/>
            <a:ext cx="9144000" cy="580200"/>
          </a:xfrm>
          <a:prstGeom prst="rect">
            <a:avLst/>
          </a:prstGeom>
          <a:solidFill>
            <a:srgbClr val="11284C"/>
          </a:solidFill>
          <a:ln>
            <a:noFill/>
          </a:ln>
        </p:spPr>
        <p:txBody>
          <a:bodyPr spcFirstLastPara="1" wrap="square" lIns="68575" tIns="34275" rIns="68575" bIns="34275" anchor="ctr">
            <a:no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E003ECB4-68A0-AF72-FDFD-EB7C2DD32890}"/>
              </a:ext>
            </a:extLst>
          </p:cNvPr>
          <p:cNvSpPr>
            <a:spLocks noGrp="1"/>
          </p:cNvSpPr>
          <p:nvPr/>
        </p:nvSpPr>
        <p:spPr>
          <a:xfrm>
            <a:off x="6349014" y="50217"/>
            <a:ext cx="27390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>
            <a:sp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rPr>
              <a:t>Electric Propulsion Initiative - ION-I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2" name="Google Shape;78;p16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1161" y="50231"/>
            <a:ext cx="326328" cy="470421"/>
          </a:xfrm>
          <a:prstGeom prst="rect">
            <a:avLst/>
          </a:prstGeom>
          <a:ln>
            <a:noFill/>
          </a:ln>
        </p:spPr>
      </p:pic>
      <p:pic>
        <p:nvPicPr>
          <p:cNvPr id="93" name="Google Shape;79;p16"/>
          <p:cNvPicPr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" y="-103200"/>
            <a:ext cx="533165" cy="754089"/>
          </a:xfrm>
          <a:prstGeom prst="rect">
            <a:avLst/>
          </a:prstGeom>
          <a:ln>
            <a:noFill/>
          </a:ln>
        </p:spPr>
      </p:pic>
      <p:cxnSp>
        <p:nvCxnSpPr>
          <p:cNvPr id="94" name="Google Shape;80;p16"/>
          <p:cNvCxnSpPr/>
          <p:nvPr/>
        </p:nvCxnSpPr>
        <p:spPr>
          <a:xfrm>
            <a:off x="589359" y="50231"/>
            <a:ext cx="0" cy="454500"/>
          </a:xfrm>
          <a:prstGeom prst="straightConnector1">
            <a:avLst/>
          </a:prstGeom>
          <a:ln w="1905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  <p:pic>
        <p:nvPicPr>
          <p:cNvPr id="95" name="Google Shape;81;p16"/>
          <p:cNvPicPr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32825" y="3955187"/>
            <a:ext cx="1239726" cy="1753416"/>
          </a:xfrm>
          <a:prstGeom prst="rect">
            <a:avLst/>
          </a:prstGeom>
          <a:ln>
            <a:noFill/>
          </a:ln>
        </p:spPr>
      </p:pic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D6B236AD-7344-733D-C8D4-7FFF4844EC55}"/>
              </a:ext>
            </a:extLst>
          </p:cNvPr>
          <p:cNvSpPr>
            <a:spLocks noGrp="1"/>
          </p:cNvSpPr>
          <p:nvPr/>
        </p:nvSpPr>
        <p:spPr>
          <a:xfrm>
            <a:off x="8829675" y="4838700"/>
            <a:ext cx="257175" cy="281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2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25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11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3B32CF-B251-58B0-7BAB-AFB6BCFA3973}"/>
              </a:ext>
            </a:extLst>
          </p:cNvPr>
          <p:cNvSpPr>
            <a:spLocks noGrp="1"/>
          </p:cNvSpPr>
          <p:nvPr/>
        </p:nvSpPr>
        <p:spPr>
          <a:xfrm>
            <a:off x="209550" y="4810125"/>
            <a:ext cx="2381250" cy="3657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6350" marR="0"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000000"/>
                </a:solidFill>
                <a:latin typeface="Arial"/>
                <a:ea typeface="Arial"/>
                <a:cs typeface="Arial"/>
              </a:rPr>
              <a:t>Fall 2026</a:t>
            </a:r>
            <a:endParaRPr sz="1400">
              <a:solidFill>
                <a:schemeClr val="dk1"/>
              </a:solidFill>
            </a:endParaRPr>
          </a:p>
        </p:txBody>
      </p:sp>
      <p:sp>
        <p:nvSpPr>
          <p:cNvPr id="86" name="Slide introduction">
            <a:extLst>
              <a:ext uri="{FF2B5EF4-FFF2-40B4-BE49-F238E27FC236}">
                <a16:creationId xmlns:a16="http://schemas.microsoft.com/office/drawing/2014/main" id="{B8F1483B-FB4D-492E-94FB-23C7526FDDD6}"/>
              </a:ext>
            </a:extLst>
          </p:cNvPr>
          <p:cNvSpPr>
            <a:spLocks noGrp="1"/>
          </p:cNvSpPr>
          <p:nvPr/>
        </p:nvSpPr>
        <p:spPr>
          <a:xfrm>
            <a:off x="714375" y="1438275"/>
            <a:ext cx="77343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Logistics</a:t>
            </a:r>
          </a:p>
        </p:txBody>
      </p:sp>
      <p:sp>
        <p:nvSpPr>
          <p:cNvPr id="87" name="Main bullets">
            <a:extLst>
              <a:ext uri="{FF2B5EF4-FFF2-40B4-BE49-F238E27FC236}">
                <a16:creationId xmlns:a16="http://schemas.microsoft.com/office/drawing/2014/main" id="{211AE939-D7DF-44D9-A71C-20127A8F71E3}"/>
              </a:ext>
            </a:extLst>
          </p:cNvPr>
          <p:cNvSpPr>
            <a:spLocks noGrp="1"/>
          </p:cNvSpPr>
          <p:nvPr/>
        </p:nvSpPr>
        <p:spPr>
          <a:xfrm>
            <a:off x="714375" y="1971675"/>
            <a:ext cx="7734300" cy="2905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80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Weekly sync — post progress in this repo's README and Meeting Slides</a:t>
            </a:r>
          </a:p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80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Flag blockers early so the plan can flex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4" name="Google Shape;74;p16">
            <a:extLst>
              <a:ext uri="{FF2B5EF4-FFF2-40B4-BE49-F238E27FC236}">
                <a16:creationId xmlns:a16="http://schemas.microsoft.com/office/drawing/2014/main" id="{F29C6079-CF50-3950-F7B3-37C5016CD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828675"/>
            <a:ext cx="795337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Looking ahead</a:t>
            </a:r>
            <a:endParaRPr/>
          </a:p>
        </p:txBody>
      </p:sp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C50CF39B-81F0-A7BF-E4FB-18A3BA818FA8}"/>
              </a:ext>
            </a:extLst>
          </p:cNvPr>
          <p:cNvSpPr>
            <a:spLocks noGrp="1"/>
          </p:cNvSpPr>
          <p:nvPr/>
        </p:nvSpPr>
        <p:spPr>
          <a:xfrm>
            <a:off x="0" y="-4697"/>
            <a:ext cx="9144000" cy="580200"/>
          </a:xfrm>
          <a:prstGeom prst="rect">
            <a:avLst/>
          </a:prstGeom>
          <a:solidFill>
            <a:srgbClr val="11284C"/>
          </a:solidFill>
          <a:ln>
            <a:noFill/>
          </a:ln>
        </p:spPr>
        <p:txBody>
          <a:bodyPr spcFirstLastPara="1" wrap="square" lIns="68575" tIns="34275" rIns="68575" bIns="34275" anchor="ctr">
            <a:no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E003ECB4-68A0-AF72-FDFD-EB7C2DD32890}"/>
              </a:ext>
            </a:extLst>
          </p:cNvPr>
          <p:cNvSpPr>
            <a:spLocks noGrp="1"/>
          </p:cNvSpPr>
          <p:nvPr/>
        </p:nvSpPr>
        <p:spPr>
          <a:xfrm>
            <a:off x="6349014" y="50217"/>
            <a:ext cx="27390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>
            <a:sp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rPr>
              <a:t>Electric Propulsion Initiative - ION-I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4" name="Google Shape;78;p16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1161" y="50231"/>
            <a:ext cx="326328" cy="470421"/>
          </a:xfrm>
          <a:prstGeom prst="rect">
            <a:avLst/>
          </a:prstGeom>
          <a:ln>
            <a:noFill/>
          </a:ln>
        </p:spPr>
      </p:pic>
      <p:pic>
        <p:nvPicPr>
          <p:cNvPr id="95" name="Google Shape;79;p16"/>
          <p:cNvPicPr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" y="-103200"/>
            <a:ext cx="533165" cy="754089"/>
          </a:xfrm>
          <a:prstGeom prst="rect">
            <a:avLst/>
          </a:prstGeom>
          <a:ln>
            <a:noFill/>
          </a:ln>
        </p:spPr>
      </p:pic>
      <p:cxnSp>
        <p:nvCxnSpPr>
          <p:cNvPr id="96" name="Google Shape;80;p16"/>
          <p:cNvCxnSpPr/>
          <p:nvPr/>
        </p:nvCxnSpPr>
        <p:spPr>
          <a:xfrm>
            <a:off x="589359" y="50231"/>
            <a:ext cx="0" cy="454500"/>
          </a:xfrm>
          <a:prstGeom prst="straightConnector1">
            <a:avLst/>
          </a:prstGeom>
          <a:ln w="1905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  <p:pic>
        <p:nvPicPr>
          <p:cNvPr id="97" name="Google Shape;81;p16"/>
          <p:cNvPicPr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32825" y="3955187"/>
            <a:ext cx="1239726" cy="1753416"/>
          </a:xfrm>
          <a:prstGeom prst="rect">
            <a:avLst/>
          </a:prstGeom>
          <a:ln>
            <a:noFill/>
          </a:ln>
        </p:spPr>
      </p:pic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D6B236AD-7344-733D-C8D4-7FFF4844EC55}"/>
              </a:ext>
            </a:extLst>
          </p:cNvPr>
          <p:cNvSpPr>
            <a:spLocks noGrp="1"/>
          </p:cNvSpPr>
          <p:nvPr/>
        </p:nvSpPr>
        <p:spPr>
          <a:xfrm>
            <a:off x="8829675" y="4838700"/>
            <a:ext cx="257175" cy="495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2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25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12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3B32CF-B251-58B0-7BAB-AFB6BCFA3973}"/>
              </a:ext>
            </a:extLst>
          </p:cNvPr>
          <p:cNvSpPr>
            <a:spLocks noGrp="1"/>
          </p:cNvSpPr>
          <p:nvPr/>
        </p:nvSpPr>
        <p:spPr>
          <a:xfrm>
            <a:off x="209550" y="4810125"/>
            <a:ext cx="2381250" cy="3657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6350" marR="0"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000000"/>
                </a:solidFill>
                <a:latin typeface="Arial"/>
                <a:ea typeface="Arial"/>
                <a:cs typeface="Arial"/>
              </a:rPr>
              <a:t>Fall 2026</a:t>
            </a:r>
            <a:endParaRPr sz="1400">
              <a:solidFill>
                <a:schemeClr val="dk1"/>
              </a:solidFill>
            </a:endParaRPr>
          </a:p>
        </p:txBody>
      </p:sp>
      <p:sp>
        <p:nvSpPr>
          <p:cNvPr id="86" name="Column 1 heading">
            <a:extLst>
              <a:ext uri="{FF2B5EF4-FFF2-40B4-BE49-F238E27FC236}">
                <a16:creationId xmlns:a16="http://schemas.microsoft.com/office/drawing/2014/main" id="{2DE9F095-B1B7-4694-A4EB-65BCA882CC18}"/>
              </a:ext>
            </a:extLst>
          </p:cNvPr>
          <p:cNvSpPr>
            <a:spLocks noGrp="1"/>
          </p:cNvSpPr>
          <p:nvPr/>
        </p:nvSpPr>
        <p:spPr>
          <a:xfrm>
            <a:off x="714375" y="1619250"/>
            <a:ext cx="3686175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11284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284C"/>
                </a:solidFill>
                <a:latin typeface="Arial"/>
                <a:ea typeface="Arial"/>
                <a:cs typeface="Arial"/>
              </a:rPr>
              <a:t>Week 3 (Oct 4–10)</a:t>
            </a:r>
          </a:p>
        </p:txBody>
      </p:sp>
      <p:sp>
        <p:nvSpPr>
          <p:cNvPr id="87" name="Column 1 body">
            <a:extLst>
              <a:ext uri="{FF2B5EF4-FFF2-40B4-BE49-F238E27FC236}">
                <a16:creationId xmlns:a16="http://schemas.microsoft.com/office/drawing/2014/main" id="{BB69C427-3E75-49FD-B0A1-7642A355F868}"/>
              </a:ext>
            </a:extLst>
          </p:cNvPr>
          <p:cNvSpPr>
            <a:spLocks noGrp="1"/>
          </p:cNvSpPr>
          <p:nvPr/>
        </p:nvSpPr>
        <p:spPr>
          <a:xfrm>
            <a:off x="714375" y="2066925"/>
            <a:ext cx="3686175" cy="2428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65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Homepage skeleton deployed</a:t>
            </a:r>
          </a:p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65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Paper: draft outline</a:t>
            </a:r>
          </a:p>
        </p:txBody>
      </p:sp>
      <p:sp>
        <p:nvSpPr>
          <p:cNvPr id="88" name="Column 2 heading">
            <a:extLst>
              <a:ext uri="{FF2B5EF4-FFF2-40B4-BE49-F238E27FC236}">
                <a16:creationId xmlns:a16="http://schemas.microsoft.com/office/drawing/2014/main" id="{CC567F5E-3CF7-498C-B1F7-936F2B5ECBC9}"/>
              </a:ext>
            </a:extLst>
          </p:cNvPr>
          <p:cNvSpPr>
            <a:spLocks noGrp="1"/>
          </p:cNvSpPr>
          <p:nvPr/>
        </p:nvSpPr>
        <p:spPr>
          <a:xfrm>
            <a:off x="4762500" y="1619250"/>
            <a:ext cx="3686175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875" b="1">
                <a:solidFill>
                  <a:srgbClr val="11284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284C"/>
                </a:solidFill>
                <a:latin typeface="Arial"/>
                <a:ea typeface="Arial"/>
                <a:cs typeface="Arial"/>
              </a:rPr>
              <a:t>Week 4 (Oct 11–17)</a:t>
            </a:r>
          </a:p>
        </p:txBody>
      </p:sp>
      <p:sp>
        <p:nvSpPr>
          <p:cNvPr id="89" name="Column 2 body">
            <a:extLst>
              <a:ext uri="{FF2B5EF4-FFF2-40B4-BE49-F238E27FC236}">
                <a16:creationId xmlns:a16="http://schemas.microsoft.com/office/drawing/2014/main" id="{097F249D-5356-46EB-8DC4-2E57F868A9BB}"/>
              </a:ext>
            </a:extLst>
          </p:cNvPr>
          <p:cNvSpPr>
            <a:spLocks noGrp="1"/>
          </p:cNvSpPr>
          <p:nvPr/>
        </p:nvSpPr>
        <p:spPr>
          <a:xfrm>
            <a:off x="4762500" y="2066925"/>
            <a:ext cx="3686175" cy="2428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65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Subteam + technical-record page templates</a:t>
            </a:r>
          </a:p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65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Continue paper drafting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4" name="Google Shape;74;p16">
            <a:extLst>
              <a:ext uri="{FF2B5EF4-FFF2-40B4-BE49-F238E27FC236}">
                <a16:creationId xmlns:a16="http://schemas.microsoft.com/office/drawing/2014/main" id="{F29C6079-CF50-3950-F7B3-37C5016CD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828675"/>
            <a:ext cx="7953375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Discussion</a:t>
            </a:r>
            <a:endParaRPr/>
          </a:p>
        </p:txBody>
      </p:sp>
      <p:sp>
        <p:nvSpPr>
          <p:cNvPr id="76" name="Google Shape;76;p16">
            <a:extLst>
              <a:ext uri="{FF2B5EF4-FFF2-40B4-BE49-F238E27FC236}">
                <a16:creationId xmlns:a16="http://schemas.microsoft.com/office/drawing/2014/main" id="{C50CF39B-81F0-A7BF-E4FB-18A3BA818FA8}"/>
              </a:ext>
            </a:extLst>
          </p:cNvPr>
          <p:cNvSpPr>
            <a:spLocks noGrp="1"/>
          </p:cNvSpPr>
          <p:nvPr/>
        </p:nvSpPr>
        <p:spPr>
          <a:xfrm>
            <a:off x="0" y="-4697"/>
            <a:ext cx="9144000" cy="580200"/>
          </a:xfrm>
          <a:prstGeom prst="rect">
            <a:avLst/>
          </a:prstGeom>
          <a:solidFill>
            <a:srgbClr val="11284C"/>
          </a:solidFill>
          <a:ln>
            <a:noFill/>
          </a:ln>
        </p:spPr>
        <p:txBody>
          <a:bodyPr spcFirstLastPara="1" wrap="square" lIns="68575" tIns="34275" rIns="68575" bIns="34275" anchor="ctr">
            <a:no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E003ECB4-68A0-AF72-FDFD-EB7C2DD32890}"/>
              </a:ext>
            </a:extLst>
          </p:cNvPr>
          <p:cNvSpPr>
            <a:spLocks noGrp="1"/>
          </p:cNvSpPr>
          <p:nvPr/>
        </p:nvSpPr>
        <p:spPr>
          <a:xfrm>
            <a:off x="6349014" y="50217"/>
            <a:ext cx="27390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>
            <a:sp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rPr>
              <a:t>Electric Propulsion Initiative - ION-I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2" name="Google Shape;78;p16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1161" y="50231"/>
            <a:ext cx="326328" cy="470421"/>
          </a:xfrm>
          <a:prstGeom prst="rect">
            <a:avLst/>
          </a:prstGeom>
          <a:ln>
            <a:noFill/>
          </a:ln>
        </p:spPr>
      </p:pic>
      <p:pic>
        <p:nvPicPr>
          <p:cNvPr id="93" name="Google Shape;79;p16"/>
          <p:cNvPicPr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" y="-103200"/>
            <a:ext cx="533165" cy="754089"/>
          </a:xfrm>
          <a:prstGeom prst="rect">
            <a:avLst/>
          </a:prstGeom>
          <a:ln>
            <a:noFill/>
          </a:ln>
        </p:spPr>
      </p:pic>
      <p:cxnSp>
        <p:nvCxnSpPr>
          <p:cNvPr id="94" name="Google Shape;80;p16"/>
          <p:cNvCxnSpPr/>
          <p:nvPr/>
        </p:nvCxnSpPr>
        <p:spPr>
          <a:xfrm>
            <a:off x="589359" y="50231"/>
            <a:ext cx="0" cy="454500"/>
          </a:xfrm>
          <a:prstGeom prst="straightConnector1">
            <a:avLst/>
          </a:prstGeom>
          <a:ln w="1905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  <p:pic>
        <p:nvPicPr>
          <p:cNvPr id="95" name="Google Shape;81;p16"/>
          <p:cNvPicPr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32825" y="3955187"/>
            <a:ext cx="1239726" cy="1753416"/>
          </a:xfrm>
          <a:prstGeom prst="rect">
            <a:avLst/>
          </a:prstGeom>
          <a:ln>
            <a:noFill/>
          </a:ln>
        </p:spPr>
      </p:pic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D6B236AD-7344-733D-C8D4-7FFF4844EC55}"/>
              </a:ext>
            </a:extLst>
          </p:cNvPr>
          <p:cNvSpPr>
            <a:spLocks noGrp="1"/>
          </p:cNvSpPr>
          <p:nvPr/>
        </p:nvSpPr>
        <p:spPr>
          <a:xfrm>
            <a:off x="8829675" y="4838700"/>
            <a:ext cx="257175" cy="281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2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25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13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3B32CF-B251-58B0-7BAB-AFB6BCFA3973}"/>
              </a:ext>
            </a:extLst>
          </p:cNvPr>
          <p:cNvSpPr>
            <a:spLocks noGrp="1"/>
          </p:cNvSpPr>
          <p:nvPr/>
        </p:nvSpPr>
        <p:spPr>
          <a:xfrm>
            <a:off x="209550" y="4810125"/>
            <a:ext cx="2381250" cy="3657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6350" marR="0"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13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000000"/>
                </a:solidFill>
                <a:latin typeface="Arial"/>
                <a:ea typeface="Arial"/>
                <a:cs typeface="Arial"/>
              </a:rPr>
              <a:t>Fall 2026</a:t>
            </a:r>
            <a:endParaRPr sz="1400">
              <a:solidFill>
                <a:schemeClr val="dk1"/>
              </a:solidFill>
            </a:endParaRPr>
          </a:p>
        </p:txBody>
      </p:sp>
      <p:sp>
        <p:nvSpPr>
          <p:cNvPr id="86" name="Slide introduction">
            <a:extLst>
              <a:ext uri="{FF2B5EF4-FFF2-40B4-BE49-F238E27FC236}">
                <a16:creationId xmlns:a16="http://schemas.microsoft.com/office/drawing/2014/main" id="{B8F1483B-FB4D-492E-94FB-23C7526FDDD6}"/>
              </a:ext>
            </a:extLst>
          </p:cNvPr>
          <p:cNvSpPr>
            <a:spLocks noGrp="1"/>
          </p:cNvSpPr>
          <p:nvPr/>
        </p:nvSpPr>
        <p:spPr>
          <a:xfrm>
            <a:off x="714375" y="1438275"/>
            <a:ext cx="77343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8000"/>
              </a:lnSpc>
              <a:buNone/>
              <a:defRPr sz="165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Open floor</a:t>
            </a:r>
          </a:p>
        </p:txBody>
      </p:sp>
      <p:sp>
        <p:nvSpPr>
          <p:cNvPr id="87" name="Main bullets">
            <a:extLst>
              <a:ext uri="{FF2B5EF4-FFF2-40B4-BE49-F238E27FC236}">
                <a16:creationId xmlns:a16="http://schemas.microsoft.com/office/drawing/2014/main" id="{211AE939-D7DF-44D9-A71C-20127A8F71E3}"/>
              </a:ext>
            </a:extLst>
          </p:cNvPr>
          <p:cNvSpPr>
            <a:spLocks noGrp="1"/>
          </p:cNvSpPr>
          <p:nvPr/>
        </p:nvSpPr>
        <p:spPr>
          <a:xfrm>
            <a:off x="714375" y="1971675"/>
            <a:ext cx="7734300" cy="2905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80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Questions on this week's tasks or the paper topic?</a:t>
            </a:r>
          </a:p>
          <a:p>
            <a:pPr marL="203200" indent="-127000">
              <a:lnSpc>
                <a:spcPct val="108000"/>
              </a:lnSpc>
              <a:spcAft>
                <a:spcPts val="1200"/>
              </a:spcAft>
              <a:buChar char="•"/>
              <a:defRPr sz="1800" b="0">
                <a:solidFill>
                  <a:srgbClr val="40404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04040"/>
                </a:solidFill>
                <a:latin typeface="Arial"/>
                <a:ea typeface="Arial"/>
                <a:cs typeface="Arial"/>
              </a:rPr>
              <a:t>Volunteers for the rough team split?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235</TotalTime>
  <Words>453</Words>
  <Application>Microsoft Office PowerPoint</Application>
  <DocSecurity>0</DocSecurity>
  <PresentationFormat>On-screen Show (16:9)</PresentationFormat>
  <Paragraphs>98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3" baseType="lpstr">
      <vt:lpstr>Arial</vt:lpstr>
      <vt:lpstr>Simple Light</vt:lpstr>
      <vt:lpstr>PowerPoint Presentation</vt:lpstr>
      <vt:lpstr>Research scope</vt:lpstr>
      <vt:lpstr>Plasma-source physics</vt:lpstr>
      <vt:lpstr>Technical foundation from last year</vt:lpstr>
      <vt:lpstr>Particle-state visualization</vt:lpstr>
      <vt:lpstr>Research value</vt:lpstr>
      <vt:lpstr>This semester’s main project</vt:lpstr>
      <vt:lpstr>Planned website content</vt:lpstr>
      <vt:lpstr>Proposed research workflow</vt:lpstr>
      <vt:lpstr>Cross-team research directions</vt:lpstr>
      <vt:lpstr>Technical work areas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Qu, Yaoning</cp:lastModifiedBy>
  <cp:revision>2</cp:revision>
  <dcterms:created xsi:type="dcterms:W3CDTF">2026-09-12T20:12:42Z</dcterms:created>
  <dcterms:modified xsi:type="dcterms:W3CDTF">2026-09-13T06:44:53Z</dcterms:modified>
</cp:coreProperties>
</file>